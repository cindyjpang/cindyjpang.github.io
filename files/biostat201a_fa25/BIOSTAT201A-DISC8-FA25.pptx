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60" r:id="rId6"/>
    <p:sldId id="265" r:id="rId7"/>
    <p:sldId id="266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DDAF4D-C9BB-D940-9976-E7D67272919D}">
          <p14:sldIdLst>
            <p14:sldId id="256"/>
            <p14:sldId id="264"/>
          </p14:sldIdLst>
        </p14:section>
        <p14:section name="Fisher's Exact Test" id="{FC54D341-10A7-2D49-AF67-9F8A8AF18548}">
          <p14:sldIdLst>
            <p14:sldId id="257"/>
            <p14:sldId id="258"/>
            <p14:sldId id="260"/>
            <p14:sldId id="265"/>
            <p14:sldId id="266"/>
          </p14:sldIdLst>
        </p14:section>
        <p14:section name="McNemar's Test" id="{5B1E48CD-6492-FE48-864A-5E84FB5A7B77}">
          <p14:sldIdLst>
            <p14:sldId id="261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8"/>
    <p:restoredTop sz="94635"/>
  </p:normalViewPr>
  <p:slideViewPr>
    <p:cSldViewPr snapToGrid="0">
      <p:cViewPr>
        <p:scale>
          <a:sx n="119" d="100"/>
          <a:sy n="119" d="100"/>
        </p:scale>
        <p:origin x="82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A41E3-7F36-5748-967D-AA5286A059A3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C6618-3CCA-DB4D-9869-529EE545C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4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C6618-3CCA-DB4D-9869-529EE545CD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08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F35F-CBEE-664C-3B1D-FCEE3C03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7C66C-E175-DBEE-D657-F8F1DA7B5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38818-64CB-B279-9E90-6AAEDF3F0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5FF7-11A2-F1BE-FCBA-2232FDF92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C6618-3CCA-DB4D-9869-529EE545CD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31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816B-912E-D8AC-7F20-A81679F55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4BABC-4A3E-4F4E-7E18-27A90ED80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E1C72-8898-9237-3657-7E64C5258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A614-DE66-EF98-04E5-728B7181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237A1-1CF2-F9D5-2750-DA7C731B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2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6FFC-5627-1B94-66FB-F3CAAEF0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F71EE-4ECD-AC13-EA87-302F0BCC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35A18-E829-8CBB-0A2B-FE7A8744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8549-DB78-CC9C-34CD-EC0C0C5F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77F00-7E04-FC96-7DD1-BB7A9C84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2132-9BF4-812D-052A-D4EA22A5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4676-C36E-D616-B4F7-D3529A45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28E17-44E3-10BA-B71E-999A9369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6ACF-B8F0-1DE3-C30D-EE417E7F9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1C913-557F-BB78-4729-D02267D9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FCC6-C358-E7AF-7556-46E48F6B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EA61-96E6-5B3F-7C59-FBE59C400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F8D77-56B2-6811-6D05-73B98CF5F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260A0-2331-2153-9C50-EF9402B3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0B83-D32C-BCF3-ED24-ACE4A34F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37556-869B-6C92-0B6C-03B33A12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1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15DD-32CE-F2AA-229A-6E132B71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6541F-F733-821E-1F7D-1F3F95C7C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37992-A666-2573-6BA1-4064C5757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B6661-2F73-3DD1-5BBD-B50428154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667DC-68DC-672A-6376-79B9447DC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D1920-88D5-FC25-8229-3B64A070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0F492-9AE3-BB0A-F671-6D5E291B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FC389-20A8-9453-1F1B-0A3875A3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6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DB6E-F570-7C18-A8F5-BB3C41D6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1ACC1-6078-CCA8-70D8-059C1988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F2FEF-F444-96A3-608E-F5D0449C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B8DEA-4DBD-D103-C3F9-EF39ED50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8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EED9D-A7E6-076D-E087-9A2207EF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37366-BFFD-B5AA-DA26-86B49FBC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92BA7-A33F-FBDB-C199-E6679D68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4AB4-408E-3391-6F79-6F538F9F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4BE4-A6CB-D103-B7A7-B299455A3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36E29-13ED-4E52-D6B6-AEFC305BE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6A688-7BE3-C67C-DAED-B952DE6E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AB58D-B3BA-DD77-CC03-D243C36E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66BA9-00DD-DB1F-14D0-B1E9A6A6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2241-A3A8-F123-B3C1-CEBF751F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18A16-8746-FEE7-D47D-6A9D3315D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B530F-CBB9-5684-150E-D34A9FECD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DDBE5-0CDA-2FBE-7778-D330F4A9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B1CCD-58B7-AD48-80E7-A9C941F9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55BBE-07F1-EF67-D288-DF9F2FC4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C6B4-498E-6464-FC3D-611D3F4E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6B7F8-0D6E-ED2E-CD61-491CFD475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0D80F-A31D-F55A-CC52-5C0056A7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732E6-3034-A826-EA42-60F7D81F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F7E58-D925-45B4-CF7C-7B3C2FD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8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0AE31-E387-DB84-4A31-856AD4ACC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11482-79F8-0C93-AF7C-7A3DF1D5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A295F-762C-F99D-F225-2E5D2DC8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B0CC1-0623-167D-DB5D-1309FEC4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ACF6-E670-7352-CAA4-B3892F96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8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BE899-CC9C-2B74-BF76-F91106B9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76E7E-FC25-1D73-6CFC-6C84C971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D629C-E1AD-D902-8461-6C1BA7AF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F77BF-A741-3645-98AE-0C4E281241C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BDC1B-C472-62E3-4694-8F1FE416A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6F698-85BD-3683-EF65-C90E9A923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8350-CEAD-1DDF-3603-BBFB3E239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2-Sample Categorical Data</a:t>
            </a:r>
            <a:b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Fisher’s Exact Test, McNemar’s Test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9DC41-C244-E02B-24AC-830ED10668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BIOSTAT 201A Fall 2025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Discussion 8 – November 21, 2025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Cindy J. Pang</a:t>
            </a:r>
          </a:p>
        </p:txBody>
      </p:sp>
    </p:spTree>
    <p:extLst>
      <p:ext uri="{BB962C8B-B14F-4D97-AF65-F5344CB8AC3E}">
        <p14:creationId xmlns:p14="http://schemas.microsoft.com/office/powerpoint/2010/main" val="40023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10E5F4A-8241-35D6-0295-07E407954290}"/>
              </a:ext>
            </a:extLst>
          </p:cNvPr>
          <p:cNvGrpSpPr/>
          <p:nvPr/>
        </p:nvGrpSpPr>
        <p:grpSpPr>
          <a:xfrm>
            <a:off x="376515" y="586743"/>
            <a:ext cx="11629019" cy="5684513"/>
            <a:chOff x="645457" y="1108039"/>
            <a:chExt cx="10944114" cy="450026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AE18908-17C5-2C4D-10A5-25050A83942E}"/>
                </a:ext>
              </a:extLst>
            </p:cNvPr>
            <p:cNvSpPr/>
            <p:nvPr/>
          </p:nvSpPr>
          <p:spPr>
            <a:xfrm>
              <a:off x="3184263" y="1108039"/>
              <a:ext cx="5658522" cy="7960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2-Sample Categorical Data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EA03BE6-18D0-7878-4513-1F2A356EBBA6}"/>
                    </a:ext>
                  </a:extLst>
                </p:cNvPr>
                <p:cNvSpPr/>
                <p:nvPr/>
              </p:nvSpPr>
              <p:spPr>
                <a:xfrm>
                  <a:off x="645459" y="2427644"/>
                  <a:ext cx="3343835" cy="796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Test if proportions are the same for Group A and B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EA03BE6-18D0-7878-4513-1F2A356EBB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459" y="2427644"/>
                  <a:ext cx="3343835" cy="79606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3C46CD-A85C-35DA-1B1F-2555322E67E7}"/>
                </a:ext>
              </a:extLst>
            </p:cNvPr>
            <p:cNvSpPr/>
            <p:nvPr/>
          </p:nvSpPr>
          <p:spPr>
            <a:xfrm>
              <a:off x="4445597" y="2427644"/>
              <a:ext cx="3343835" cy="8104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 if Groups A and B are Independent</a:t>
              </a:r>
              <a:endParaRPr lang="en-US" b="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F5EF56-DFB4-7083-C11E-BA0A470B0BE0}"/>
                </a:ext>
              </a:extLst>
            </p:cNvPr>
            <p:cNvSpPr/>
            <p:nvPr/>
          </p:nvSpPr>
          <p:spPr>
            <a:xfrm>
              <a:off x="8245735" y="2427644"/>
              <a:ext cx="3343836" cy="7960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 if Groups A and B are equally effective for matched pairs data</a:t>
              </a:r>
              <a:endParaRPr lang="en-US" b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82CDD8-6984-415D-2D2A-99B764D348AF}"/>
                </a:ext>
              </a:extLst>
            </p:cNvPr>
            <p:cNvSpPr txBox="1"/>
            <p:nvPr/>
          </p:nvSpPr>
          <p:spPr>
            <a:xfrm>
              <a:off x="645458" y="3668358"/>
              <a:ext cx="3343835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Two Sample Test for Difference in Proportions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F42AF8-262D-0EA9-91BE-D94EE2968E6F}"/>
                </a:ext>
              </a:extLst>
            </p:cNvPr>
            <p:cNvSpPr txBox="1"/>
            <p:nvPr/>
          </p:nvSpPr>
          <p:spPr>
            <a:xfrm>
              <a:off x="4402566" y="3668358"/>
              <a:ext cx="3343835" cy="11387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Pearson’s Chi-Square Test</a:t>
              </a:r>
            </a:p>
            <a:p>
              <a:pPr algn="ctr"/>
              <a:endParaRPr lang="en-US" dirty="0"/>
            </a:p>
            <a:p>
              <a:pPr algn="ctr"/>
              <a:r>
                <a:rPr lang="en-US" sz="1600" dirty="0">
                  <a:highlight>
                    <a:srgbClr val="FFFF00"/>
                  </a:highlight>
                </a:rPr>
                <a:t>(use Fisher’s Exact test if expected counts are less than 5)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743267-215E-F84A-5D51-45BCD45BFA21}"/>
                </a:ext>
              </a:extLst>
            </p:cNvPr>
            <p:cNvSpPr txBox="1"/>
            <p:nvPr/>
          </p:nvSpPr>
          <p:spPr>
            <a:xfrm>
              <a:off x="8245735" y="3533005"/>
              <a:ext cx="3343835" cy="36933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highlight>
                    <a:srgbClr val="FFFF00"/>
                  </a:highlight>
                </a:rPr>
                <a:t>McNemar’s Test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7ACF17-4A2F-D650-0A55-988F1919BF48}"/>
                </a:ext>
              </a:extLst>
            </p:cNvPr>
            <p:cNvSpPr txBox="1"/>
            <p:nvPr/>
          </p:nvSpPr>
          <p:spPr>
            <a:xfrm>
              <a:off x="645457" y="5238974"/>
              <a:ext cx="3343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highlight>
                    <a:srgbClr val="FFFF00"/>
                  </a:highlight>
                </a:rPr>
                <a:t>Today’s Discussion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1DB8BC-BFD2-B244-231D-ABCE8C246BC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80527" y="1592294"/>
            <a:ext cx="0" cy="6613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25244B-FAE9-5608-3C79-725330AB316F}"/>
              </a:ext>
            </a:extLst>
          </p:cNvPr>
          <p:cNvCxnSpPr>
            <a:cxnSpLocks/>
          </p:cNvCxnSpPr>
          <p:nvPr/>
        </p:nvCxnSpPr>
        <p:spPr>
          <a:xfrm flipH="1">
            <a:off x="2153064" y="1598749"/>
            <a:ext cx="2365148" cy="57429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FF59B0-1B02-7F4C-7A65-2819A26D2895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181393" y="1592294"/>
            <a:ext cx="3047591" cy="6613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477060-5F10-F680-CE67-A88EE4E5001B}"/>
              </a:ext>
            </a:extLst>
          </p:cNvPr>
          <p:cNvCxnSpPr>
            <a:cxnSpLocks/>
          </p:cNvCxnSpPr>
          <p:nvPr/>
        </p:nvCxnSpPr>
        <p:spPr>
          <a:xfrm>
            <a:off x="6074019" y="3159502"/>
            <a:ext cx="0" cy="6613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AEFF5C-333D-F853-43F7-69BB9A685CDA}"/>
              </a:ext>
            </a:extLst>
          </p:cNvPr>
          <p:cNvCxnSpPr>
            <a:cxnSpLocks/>
          </p:cNvCxnSpPr>
          <p:nvPr/>
        </p:nvCxnSpPr>
        <p:spPr>
          <a:xfrm>
            <a:off x="2052452" y="3198246"/>
            <a:ext cx="0" cy="6613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567BF9-C865-30F1-CE3B-285E1968E4F8}"/>
              </a:ext>
            </a:extLst>
          </p:cNvPr>
          <p:cNvCxnSpPr>
            <a:cxnSpLocks/>
          </p:cNvCxnSpPr>
          <p:nvPr/>
        </p:nvCxnSpPr>
        <p:spPr>
          <a:xfrm>
            <a:off x="10260790" y="3013349"/>
            <a:ext cx="0" cy="6613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22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C6E5-C665-41A6-6F3E-B8EBFF36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Recall from Last Class…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CB884-6CBE-2AE6-D260-A8C95CF1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8590"/>
            <a:ext cx="5377249" cy="54094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3BBB0F-0F10-9956-709B-C05DD3F9E6A0}"/>
              </a:ext>
            </a:extLst>
          </p:cNvPr>
          <p:cNvSpPr/>
          <p:nvPr/>
        </p:nvSpPr>
        <p:spPr>
          <a:xfrm>
            <a:off x="838200" y="2496066"/>
            <a:ext cx="5377249" cy="8319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85652-D981-928E-2C27-2E95D31C3BF0}"/>
              </a:ext>
            </a:extLst>
          </p:cNvPr>
          <p:cNvSpPr txBox="1"/>
          <p:nvPr/>
        </p:nvSpPr>
        <p:spPr>
          <a:xfrm>
            <a:off x="7006857" y="2511034"/>
            <a:ext cx="47846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But now this assumption is violated such that at least one of the cells has an expected count less than 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DF0AFD-7760-92AB-A3A7-9B0CF63FDB0C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6215449" y="2912029"/>
            <a:ext cx="791408" cy="606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4A1C18-0B82-528E-EDE6-C76F4F8BCEBA}"/>
              </a:ext>
            </a:extLst>
          </p:cNvPr>
          <p:cNvSpPr/>
          <p:nvPr/>
        </p:nvSpPr>
        <p:spPr>
          <a:xfrm>
            <a:off x="6944038" y="3989277"/>
            <a:ext cx="4910287" cy="1387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Use Fisher’s Exact Test! </a:t>
            </a:r>
          </a:p>
        </p:txBody>
      </p:sp>
    </p:spTree>
    <p:extLst>
      <p:ext uri="{BB962C8B-B14F-4D97-AF65-F5344CB8AC3E}">
        <p14:creationId xmlns:p14="http://schemas.microsoft.com/office/powerpoint/2010/main" val="130033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B19D-5616-16BB-4FBC-80CC0079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 Light" panose="020F0302020204030204" pitchFamily="34" charset="0"/>
                <a:cs typeface="Calibri Light" panose="020F0302020204030204" pitchFamily="34" charset="0"/>
              </a:rPr>
              <a:t>Fisher’s Exact Test  - Hypergeometric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FEFE-9279-75F8-9463-A00F451F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422"/>
            <a:ext cx="10515600" cy="4698541"/>
          </a:xfrm>
        </p:spPr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Suppose you have and urn with 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white balls and 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N-K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black balls and you draw 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balls without replacement 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Let x be the number of white balls in the sample, then X ~ Hypergeometric(N, K, n)</a:t>
            </a:r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2F3BDE-D195-6F35-1B71-04882C524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79332"/>
              </p:ext>
            </p:extLst>
          </p:nvPr>
        </p:nvGraphicFramePr>
        <p:xfrm>
          <a:off x="1047052" y="3582550"/>
          <a:ext cx="4469779" cy="1937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7445">
                  <a:extLst>
                    <a:ext uri="{9D8B030D-6E8A-4147-A177-3AD203B41FA5}">
                      <a16:colId xmlns:a16="http://schemas.microsoft.com/office/drawing/2014/main" val="2173631862"/>
                    </a:ext>
                  </a:extLst>
                </a:gridCol>
                <a:gridCol w="1117445">
                  <a:extLst>
                    <a:ext uri="{9D8B030D-6E8A-4147-A177-3AD203B41FA5}">
                      <a16:colId xmlns:a16="http://schemas.microsoft.com/office/drawing/2014/main" val="468052874"/>
                    </a:ext>
                  </a:extLst>
                </a:gridCol>
                <a:gridCol w="908252">
                  <a:extLst>
                    <a:ext uri="{9D8B030D-6E8A-4147-A177-3AD203B41FA5}">
                      <a16:colId xmlns:a16="http://schemas.microsoft.com/office/drawing/2014/main" val="2108135042"/>
                    </a:ext>
                  </a:extLst>
                </a:gridCol>
                <a:gridCol w="1326637">
                  <a:extLst>
                    <a:ext uri="{9D8B030D-6E8A-4147-A177-3AD203B41FA5}">
                      <a16:colId xmlns:a16="http://schemas.microsoft.com/office/drawing/2014/main" val="2349856038"/>
                    </a:ext>
                  </a:extLst>
                </a:gridCol>
              </a:tblGrid>
              <a:tr h="409859"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37513"/>
                  </a:ext>
                </a:extLst>
              </a:tr>
              <a:tr h="409859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Sampled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627922"/>
                  </a:ext>
                </a:extLst>
              </a:tr>
              <a:tr h="707429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Not Sampled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N-n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05797"/>
                  </a:ext>
                </a:extLst>
              </a:tr>
              <a:tr h="409859">
                <a:tc>
                  <a:txBody>
                    <a:bodyPr/>
                    <a:lstStyle/>
                    <a:p>
                      <a:endParaRPr lang="en-US" b="0" i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623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9C409A-B595-68BF-6594-DBA7A3F93A26}"/>
                  </a:ext>
                </a:extLst>
              </p:cNvPr>
              <p:cNvSpPr txBox="1"/>
              <p:nvPr/>
            </p:nvSpPr>
            <p:spPr>
              <a:xfrm>
                <a:off x="5830107" y="3708867"/>
                <a:ext cx="5628118" cy="168437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Probability of getting this table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-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-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9C409A-B595-68BF-6594-DBA7A3F93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107" y="3708867"/>
                <a:ext cx="5628118" cy="1684372"/>
              </a:xfrm>
              <a:prstGeom prst="rect">
                <a:avLst/>
              </a:prstGeom>
              <a:blipFill>
                <a:blip r:embed="rId2"/>
                <a:stretch>
                  <a:fillRect t="-1460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30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98E5-AB01-C622-1C1D-4BFC777B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5E3A-F1B7-2CC4-933A-5E75D916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 Light" panose="020F0302020204030204" pitchFamily="34" charset="0"/>
                <a:cs typeface="Calibri Light" panose="020F0302020204030204" pitchFamily="34" charset="0"/>
              </a:rPr>
              <a:t>Fisher’s Exact Test  - Hypergeometric Distribution</a:t>
            </a:r>
            <a:br>
              <a:rPr lang="en-US" sz="4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(Rosner’s Version)</a:t>
            </a:r>
            <a:endParaRPr 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5197-C9D1-FAAE-1572-640B73892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422"/>
            <a:ext cx="10515600" cy="4698541"/>
          </a:xfrm>
        </p:spPr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Suppose you have and urn with 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white balls and 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N-K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black balls and you draw 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balls without replacement 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Let x be the number of white balls in the sample, then X ~ Hypergeometric(N, K, n)</a:t>
            </a:r>
          </a:p>
          <a:p>
            <a:pPr marL="0" indent="0">
              <a:buNone/>
            </a:pPr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309CF54-2F29-388C-E723-B9894CA400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217139"/>
                  </p:ext>
                </p:extLst>
              </p:nvPr>
            </p:nvGraphicFramePr>
            <p:xfrm>
              <a:off x="589660" y="3582550"/>
              <a:ext cx="4927173" cy="213458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31794">
                      <a:extLst>
                        <a:ext uri="{9D8B030D-6E8A-4147-A177-3AD203B41FA5}">
                          <a16:colId xmlns:a16="http://schemas.microsoft.com/office/drawing/2014/main" val="2173631862"/>
                        </a:ext>
                      </a:extLst>
                    </a:gridCol>
                    <a:gridCol w="1231794">
                      <a:extLst>
                        <a:ext uri="{9D8B030D-6E8A-4147-A177-3AD203B41FA5}">
                          <a16:colId xmlns:a16="http://schemas.microsoft.com/office/drawing/2014/main" val="468052874"/>
                        </a:ext>
                      </a:extLst>
                    </a:gridCol>
                    <a:gridCol w="1001194">
                      <a:extLst>
                        <a:ext uri="{9D8B030D-6E8A-4147-A177-3AD203B41FA5}">
                          <a16:colId xmlns:a16="http://schemas.microsoft.com/office/drawing/2014/main" val="2108135042"/>
                        </a:ext>
                      </a:extLst>
                    </a:gridCol>
                    <a:gridCol w="1462391">
                      <a:extLst>
                        <a:ext uri="{9D8B030D-6E8A-4147-A177-3AD203B41FA5}">
                          <a16:colId xmlns:a16="http://schemas.microsoft.com/office/drawing/2014/main" val="2349856038"/>
                        </a:ext>
                      </a:extLst>
                    </a:gridCol>
                  </a:tblGrid>
                  <a:tr h="392026"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White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Black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4137513"/>
                      </a:ext>
                    </a:extLst>
                  </a:tr>
                  <a:tr h="392026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Sampled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chemeClr val="accent2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7627922"/>
                      </a:ext>
                    </a:extLst>
                  </a:tr>
                  <a:tr h="675267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Not Sampled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005797"/>
                      </a:ext>
                    </a:extLst>
                  </a:tr>
                  <a:tr h="675267"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chemeClr val="accent2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0" dirty="0">
                            <a:solidFill>
                              <a:schemeClr val="accent2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b="0" i="0" dirty="0">
                            <a:solidFill>
                              <a:schemeClr val="accent2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91623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309CF54-2F29-388C-E723-B9894CA400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217139"/>
                  </p:ext>
                </p:extLst>
              </p:nvPr>
            </p:nvGraphicFramePr>
            <p:xfrm>
              <a:off x="589660" y="3582550"/>
              <a:ext cx="4927173" cy="213458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31794">
                      <a:extLst>
                        <a:ext uri="{9D8B030D-6E8A-4147-A177-3AD203B41FA5}">
                          <a16:colId xmlns:a16="http://schemas.microsoft.com/office/drawing/2014/main" val="2173631862"/>
                        </a:ext>
                      </a:extLst>
                    </a:gridCol>
                    <a:gridCol w="1231794">
                      <a:extLst>
                        <a:ext uri="{9D8B030D-6E8A-4147-A177-3AD203B41FA5}">
                          <a16:colId xmlns:a16="http://schemas.microsoft.com/office/drawing/2014/main" val="468052874"/>
                        </a:ext>
                      </a:extLst>
                    </a:gridCol>
                    <a:gridCol w="1001194">
                      <a:extLst>
                        <a:ext uri="{9D8B030D-6E8A-4147-A177-3AD203B41FA5}">
                          <a16:colId xmlns:a16="http://schemas.microsoft.com/office/drawing/2014/main" val="2108135042"/>
                        </a:ext>
                      </a:extLst>
                    </a:gridCol>
                    <a:gridCol w="1462391">
                      <a:extLst>
                        <a:ext uri="{9D8B030D-6E8A-4147-A177-3AD203B41FA5}">
                          <a16:colId xmlns:a16="http://schemas.microsoft.com/office/drawing/2014/main" val="2349856038"/>
                        </a:ext>
                      </a:extLst>
                    </a:gridCol>
                  </a:tblGrid>
                  <a:tr h="392026"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White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Black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4137513"/>
                      </a:ext>
                    </a:extLst>
                  </a:tr>
                  <a:tr h="392026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Sampled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130" t="-109677" r="-870" b="-348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7627922"/>
                      </a:ext>
                    </a:extLst>
                  </a:tr>
                  <a:tr h="675267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Not Sampled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130" t="-120370" r="-87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005797"/>
                      </a:ext>
                    </a:extLst>
                  </a:tr>
                  <a:tr h="675267"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24528" r="-19898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8101" t="-224528" r="-146835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130" t="-224528" r="-870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91623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DF93D0-939B-688F-5242-2ABD57586BA7}"/>
                  </a:ext>
                </a:extLst>
              </p:cNvPr>
              <p:cNvSpPr txBox="1"/>
              <p:nvPr/>
            </p:nvSpPr>
            <p:spPr>
              <a:xfrm>
                <a:off x="5830107" y="3708867"/>
                <a:ext cx="5971032" cy="171194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Probability of getting this table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-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1600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DF93D0-939B-688F-5242-2ABD57586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107" y="3708867"/>
                <a:ext cx="5971032" cy="1711944"/>
              </a:xfrm>
              <a:prstGeom prst="rect">
                <a:avLst/>
              </a:prstGeom>
              <a:blipFill>
                <a:blip r:embed="rId3"/>
                <a:stretch>
                  <a:fillRect t="-143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A4BEB1-2611-864B-0E5A-69D444F8AEE2}"/>
                  </a:ext>
                </a:extLst>
              </p:cNvPr>
              <p:cNvSpPr txBox="1"/>
              <p:nvPr/>
            </p:nvSpPr>
            <p:spPr>
              <a:xfrm>
                <a:off x="589660" y="5836778"/>
                <a:ext cx="50932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where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</a:t>
                </a:r>
                <a:r>
                  <a:rPr lang="en-US" b="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A4BEB1-2611-864B-0E5A-69D444F8A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60" y="5836778"/>
                <a:ext cx="5093293" cy="369332"/>
              </a:xfrm>
              <a:prstGeom prst="rect">
                <a:avLst/>
              </a:prstGeom>
              <a:blipFill>
                <a:blip r:embed="rId4"/>
                <a:stretch>
                  <a:fillRect l="-99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22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8253-1CA4-3FF5-973A-DFA2471C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30" y="365125"/>
            <a:ext cx="3548679" cy="93655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Computing p-Values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5D9F8-D0E0-AF08-167D-E1E8DABD5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29" y="1301675"/>
            <a:ext cx="3548679" cy="301214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want to know what the probability of getting a table more “extreme” or “as extreme” as our current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6E0C0-BF59-239D-0A15-280C734FF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26" y="453575"/>
            <a:ext cx="7772400" cy="59508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1E3301-FA42-FFC0-F2D2-A3FDB9F6918C}"/>
                  </a:ext>
                </a:extLst>
              </p:cNvPr>
              <p:cNvSpPr txBox="1"/>
              <p:nvPr/>
            </p:nvSpPr>
            <p:spPr>
              <a:xfrm>
                <a:off x="3117926" y="3851237"/>
                <a:ext cx="3861996" cy="10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Probability of our observed data: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=18) 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29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0.0138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1E3301-FA42-FFC0-F2D2-A3FDB9F69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26" y="3851237"/>
                <a:ext cx="3861996" cy="1078950"/>
              </a:xfrm>
              <a:prstGeom prst="rect">
                <a:avLst/>
              </a:prstGeom>
              <a:blipFill>
                <a:blip r:embed="rId4"/>
                <a:stretch>
                  <a:fillRect l="-1311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0A78FB-9DA4-43FB-03E7-D5E7A71E1753}"/>
              </a:ext>
            </a:extLst>
          </p:cNvPr>
          <p:cNvSpPr/>
          <p:nvPr/>
        </p:nvSpPr>
        <p:spPr>
          <a:xfrm>
            <a:off x="4873214" y="2329029"/>
            <a:ext cx="677732" cy="516368"/>
          </a:xfrm>
          <a:custGeom>
            <a:avLst/>
            <a:gdLst>
              <a:gd name="connsiteX0" fmla="*/ 0 w 677732"/>
              <a:gd name="connsiteY0" fmla="*/ 86063 h 516368"/>
              <a:gd name="connsiteX1" fmla="*/ 86063 w 677732"/>
              <a:gd name="connsiteY1" fmla="*/ 0 h 516368"/>
              <a:gd name="connsiteX2" fmla="*/ 591669 w 677732"/>
              <a:gd name="connsiteY2" fmla="*/ 0 h 516368"/>
              <a:gd name="connsiteX3" fmla="*/ 677732 w 677732"/>
              <a:gd name="connsiteY3" fmla="*/ 86063 h 516368"/>
              <a:gd name="connsiteX4" fmla="*/ 677732 w 677732"/>
              <a:gd name="connsiteY4" fmla="*/ 430305 h 516368"/>
              <a:gd name="connsiteX5" fmla="*/ 591669 w 677732"/>
              <a:gd name="connsiteY5" fmla="*/ 516368 h 516368"/>
              <a:gd name="connsiteX6" fmla="*/ 86063 w 677732"/>
              <a:gd name="connsiteY6" fmla="*/ 516368 h 516368"/>
              <a:gd name="connsiteX7" fmla="*/ 0 w 677732"/>
              <a:gd name="connsiteY7" fmla="*/ 430305 h 516368"/>
              <a:gd name="connsiteX8" fmla="*/ 0 w 677732"/>
              <a:gd name="connsiteY8" fmla="*/ 86063 h 51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732" h="516368" extrusionOk="0">
                <a:moveTo>
                  <a:pt x="0" y="86063"/>
                </a:moveTo>
                <a:cubicBezTo>
                  <a:pt x="2906" y="31845"/>
                  <a:pt x="49447" y="1972"/>
                  <a:pt x="86063" y="0"/>
                </a:cubicBezTo>
                <a:cubicBezTo>
                  <a:pt x="271811" y="-17024"/>
                  <a:pt x="345375" y="12643"/>
                  <a:pt x="591669" y="0"/>
                </a:cubicBezTo>
                <a:cubicBezTo>
                  <a:pt x="641210" y="2829"/>
                  <a:pt x="687568" y="40205"/>
                  <a:pt x="677732" y="86063"/>
                </a:cubicBezTo>
                <a:cubicBezTo>
                  <a:pt x="674967" y="206296"/>
                  <a:pt x="664618" y="262669"/>
                  <a:pt x="677732" y="430305"/>
                </a:cubicBezTo>
                <a:cubicBezTo>
                  <a:pt x="677315" y="476776"/>
                  <a:pt x="631459" y="516008"/>
                  <a:pt x="591669" y="516368"/>
                </a:cubicBezTo>
                <a:cubicBezTo>
                  <a:pt x="486040" y="526399"/>
                  <a:pt x="335303" y="534681"/>
                  <a:pt x="86063" y="516368"/>
                </a:cubicBezTo>
                <a:cubicBezTo>
                  <a:pt x="30580" y="519636"/>
                  <a:pt x="3004" y="469956"/>
                  <a:pt x="0" y="430305"/>
                </a:cubicBezTo>
                <a:cubicBezTo>
                  <a:pt x="-8161" y="337428"/>
                  <a:pt x="16690" y="211709"/>
                  <a:pt x="0" y="86063"/>
                </a:cubicBezTo>
                <a:close/>
              </a:path>
            </a:pathLst>
          </a:custGeom>
          <a:noFill/>
          <a:ln w="381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0A8EBD-A93F-5DC9-5004-9A0D889FDF3D}"/>
              </a:ext>
            </a:extLst>
          </p:cNvPr>
          <p:cNvSpPr/>
          <p:nvPr/>
        </p:nvSpPr>
        <p:spPr>
          <a:xfrm>
            <a:off x="5568875" y="2329029"/>
            <a:ext cx="677732" cy="516368"/>
          </a:xfrm>
          <a:custGeom>
            <a:avLst/>
            <a:gdLst>
              <a:gd name="connsiteX0" fmla="*/ 0 w 677732"/>
              <a:gd name="connsiteY0" fmla="*/ 86063 h 516368"/>
              <a:gd name="connsiteX1" fmla="*/ 86063 w 677732"/>
              <a:gd name="connsiteY1" fmla="*/ 0 h 516368"/>
              <a:gd name="connsiteX2" fmla="*/ 591669 w 677732"/>
              <a:gd name="connsiteY2" fmla="*/ 0 h 516368"/>
              <a:gd name="connsiteX3" fmla="*/ 677732 w 677732"/>
              <a:gd name="connsiteY3" fmla="*/ 86063 h 516368"/>
              <a:gd name="connsiteX4" fmla="*/ 677732 w 677732"/>
              <a:gd name="connsiteY4" fmla="*/ 430305 h 516368"/>
              <a:gd name="connsiteX5" fmla="*/ 591669 w 677732"/>
              <a:gd name="connsiteY5" fmla="*/ 516368 h 516368"/>
              <a:gd name="connsiteX6" fmla="*/ 86063 w 677732"/>
              <a:gd name="connsiteY6" fmla="*/ 516368 h 516368"/>
              <a:gd name="connsiteX7" fmla="*/ 0 w 677732"/>
              <a:gd name="connsiteY7" fmla="*/ 430305 h 516368"/>
              <a:gd name="connsiteX8" fmla="*/ 0 w 677732"/>
              <a:gd name="connsiteY8" fmla="*/ 86063 h 51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732" h="516368" extrusionOk="0">
                <a:moveTo>
                  <a:pt x="0" y="86063"/>
                </a:moveTo>
                <a:cubicBezTo>
                  <a:pt x="2906" y="31845"/>
                  <a:pt x="49447" y="1972"/>
                  <a:pt x="86063" y="0"/>
                </a:cubicBezTo>
                <a:cubicBezTo>
                  <a:pt x="271811" y="-17024"/>
                  <a:pt x="345375" y="12643"/>
                  <a:pt x="591669" y="0"/>
                </a:cubicBezTo>
                <a:cubicBezTo>
                  <a:pt x="641210" y="2829"/>
                  <a:pt x="687568" y="40205"/>
                  <a:pt x="677732" y="86063"/>
                </a:cubicBezTo>
                <a:cubicBezTo>
                  <a:pt x="674967" y="206296"/>
                  <a:pt x="664618" y="262669"/>
                  <a:pt x="677732" y="430305"/>
                </a:cubicBezTo>
                <a:cubicBezTo>
                  <a:pt x="677315" y="476776"/>
                  <a:pt x="631459" y="516008"/>
                  <a:pt x="591669" y="516368"/>
                </a:cubicBezTo>
                <a:cubicBezTo>
                  <a:pt x="486040" y="526399"/>
                  <a:pt x="335303" y="534681"/>
                  <a:pt x="86063" y="516368"/>
                </a:cubicBezTo>
                <a:cubicBezTo>
                  <a:pt x="30580" y="519636"/>
                  <a:pt x="3004" y="469956"/>
                  <a:pt x="0" y="430305"/>
                </a:cubicBezTo>
                <a:cubicBezTo>
                  <a:pt x="-8161" y="337428"/>
                  <a:pt x="16690" y="211709"/>
                  <a:pt x="0" y="86063"/>
                </a:cubicBezTo>
                <a:close/>
              </a:path>
            </a:pathLst>
          </a:custGeom>
          <a:noFill/>
          <a:ln w="38100">
            <a:solidFill>
              <a:schemeClr val="accent6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D43505-9172-9DAA-5934-C77243EFE6C7}"/>
              </a:ext>
            </a:extLst>
          </p:cNvPr>
          <p:cNvSpPr/>
          <p:nvPr/>
        </p:nvSpPr>
        <p:spPr>
          <a:xfrm>
            <a:off x="6302190" y="2329029"/>
            <a:ext cx="677732" cy="516368"/>
          </a:xfrm>
          <a:custGeom>
            <a:avLst/>
            <a:gdLst>
              <a:gd name="connsiteX0" fmla="*/ 0 w 677732"/>
              <a:gd name="connsiteY0" fmla="*/ 86063 h 516368"/>
              <a:gd name="connsiteX1" fmla="*/ 86063 w 677732"/>
              <a:gd name="connsiteY1" fmla="*/ 0 h 516368"/>
              <a:gd name="connsiteX2" fmla="*/ 591669 w 677732"/>
              <a:gd name="connsiteY2" fmla="*/ 0 h 516368"/>
              <a:gd name="connsiteX3" fmla="*/ 677732 w 677732"/>
              <a:gd name="connsiteY3" fmla="*/ 86063 h 516368"/>
              <a:gd name="connsiteX4" fmla="*/ 677732 w 677732"/>
              <a:gd name="connsiteY4" fmla="*/ 430305 h 516368"/>
              <a:gd name="connsiteX5" fmla="*/ 591669 w 677732"/>
              <a:gd name="connsiteY5" fmla="*/ 516368 h 516368"/>
              <a:gd name="connsiteX6" fmla="*/ 86063 w 677732"/>
              <a:gd name="connsiteY6" fmla="*/ 516368 h 516368"/>
              <a:gd name="connsiteX7" fmla="*/ 0 w 677732"/>
              <a:gd name="connsiteY7" fmla="*/ 430305 h 516368"/>
              <a:gd name="connsiteX8" fmla="*/ 0 w 677732"/>
              <a:gd name="connsiteY8" fmla="*/ 86063 h 51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732" h="516368" extrusionOk="0">
                <a:moveTo>
                  <a:pt x="0" y="86063"/>
                </a:moveTo>
                <a:cubicBezTo>
                  <a:pt x="2906" y="31845"/>
                  <a:pt x="49447" y="1972"/>
                  <a:pt x="86063" y="0"/>
                </a:cubicBezTo>
                <a:cubicBezTo>
                  <a:pt x="271811" y="-17024"/>
                  <a:pt x="345375" y="12643"/>
                  <a:pt x="591669" y="0"/>
                </a:cubicBezTo>
                <a:cubicBezTo>
                  <a:pt x="641210" y="2829"/>
                  <a:pt x="687568" y="40205"/>
                  <a:pt x="677732" y="86063"/>
                </a:cubicBezTo>
                <a:cubicBezTo>
                  <a:pt x="674967" y="206296"/>
                  <a:pt x="664618" y="262669"/>
                  <a:pt x="677732" y="430305"/>
                </a:cubicBezTo>
                <a:cubicBezTo>
                  <a:pt x="677315" y="476776"/>
                  <a:pt x="631459" y="516008"/>
                  <a:pt x="591669" y="516368"/>
                </a:cubicBezTo>
                <a:cubicBezTo>
                  <a:pt x="486040" y="526399"/>
                  <a:pt x="335303" y="534681"/>
                  <a:pt x="86063" y="516368"/>
                </a:cubicBezTo>
                <a:cubicBezTo>
                  <a:pt x="30580" y="519636"/>
                  <a:pt x="3004" y="469956"/>
                  <a:pt x="0" y="430305"/>
                </a:cubicBezTo>
                <a:cubicBezTo>
                  <a:pt x="-8161" y="337428"/>
                  <a:pt x="16690" y="211709"/>
                  <a:pt x="0" y="86063"/>
                </a:cubicBezTo>
                <a:close/>
              </a:path>
            </a:pathLst>
          </a:custGeom>
          <a:noFill/>
          <a:ln w="3810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1969E6-1D1B-A178-02B1-9CD38923EFA8}"/>
              </a:ext>
            </a:extLst>
          </p:cNvPr>
          <p:cNvSpPr/>
          <p:nvPr/>
        </p:nvSpPr>
        <p:spPr>
          <a:xfrm>
            <a:off x="4873214" y="3170815"/>
            <a:ext cx="677732" cy="516368"/>
          </a:xfrm>
          <a:custGeom>
            <a:avLst/>
            <a:gdLst>
              <a:gd name="connsiteX0" fmla="*/ 0 w 677732"/>
              <a:gd name="connsiteY0" fmla="*/ 86063 h 516368"/>
              <a:gd name="connsiteX1" fmla="*/ 86063 w 677732"/>
              <a:gd name="connsiteY1" fmla="*/ 0 h 516368"/>
              <a:gd name="connsiteX2" fmla="*/ 591669 w 677732"/>
              <a:gd name="connsiteY2" fmla="*/ 0 h 516368"/>
              <a:gd name="connsiteX3" fmla="*/ 677732 w 677732"/>
              <a:gd name="connsiteY3" fmla="*/ 86063 h 516368"/>
              <a:gd name="connsiteX4" fmla="*/ 677732 w 677732"/>
              <a:gd name="connsiteY4" fmla="*/ 430305 h 516368"/>
              <a:gd name="connsiteX5" fmla="*/ 591669 w 677732"/>
              <a:gd name="connsiteY5" fmla="*/ 516368 h 516368"/>
              <a:gd name="connsiteX6" fmla="*/ 86063 w 677732"/>
              <a:gd name="connsiteY6" fmla="*/ 516368 h 516368"/>
              <a:gd name="connsiteX7" fmla="*/ 0 w 677732"/>
              <a:gd name="connsiteY7" fmla="*/ 430305 h 516368"/>
              <a:gd name="connsiteX8" fmla="*/ 0 w 677732"/>
              <a:gd name="connsiteY8" fmla="*/ 86063 h 51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732" h="516368" extrusionOk="0">
                <a:moveTo>
                  <a:pt x="0" y="86063"/>
                </a:moveTo>
                <a:cubicBezTo>
                  <a:pt x="2906" y="31845"/>
                  <a:pt x="49447" y="1972"/>
                  <a:pt x="86063" y="0"/>
                </a:cubicBezTo>
                <a:cubicBezTo>
                  <a:pt x="271811" y="-17024"/>
                  <a:pt x="345375" y="12643"/>
                  <a:pt x="591669" y="0"/>
                </a:cubicBezTo>
                <a:cubicBezTo>
                  <a:pt x="641210" y="2829"/>
                  <a:pt x="687568" y="40205"/>
                  <a:pt x="677732" y="86063"/>
                </a:cubicBezTo>
                <a:cubicBezTo>
                  <a:pt x="674967" y="206296"/>
                  <a:pt x="664618" y="262669"/>
                  <a:pt x="677732" y="430305"/>
                </a:cubicBezTo>
                <a:cubicBezTo>
                  <a:pt x="677315" y="476776"/>
                  <a:pt x="631459" y="516008"/>
                  <a:pt x="591669" y="516368"/>
                </a:cubicBezTo>
                <a:cubicBezTo>
                  <a:pt x="486040" y="526399"/>
                  <a:pt x="335303" y="534681"/>
                  <a:pt x="86063" y="516368"/>
                </a:cubicBezTo>
                <a:cubicBezTo>
                  <a:pt x="30580" y="519636"/>
                  <a:pt x="3004" y="469956"/>
                  <a:pt x="0" y="430305"/>
                </a:cubicBezTo>
                <a:cubicBezTo>
                  <a:pt x="-8161" y="337428"/>
                  <a:pt x="16690" y="211709"/>
                  <a:pt x="0" y="86063"/>
                </a:cubicBezTo>
                <a:close/>
              </a:path>
            </a:pathLst>
          </a:custGeom>
          <a:noFill/>
          <a:ln w="381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79CB56-2FED-5BCC-BCB0-FCA2FB0CD1F7}"/>
              </a:ext>
            </a:extLst>
          </p:cNvPr>
          <p:cNvSpPr/>
          <p:nvPr/>
        </p:nvSpPr>
        <p:spPr>
          <a:xfrm>
            <a:off x="5586356" y="3170815"/>
            <a:ext cx="677732" cy="516368"/>
          </a:xfrm>
          <a:custGeom>
            <a:avLst/>
            <a:gdLst>
              <a:gd name="connsiteX0" fmla="*/ 0 w 677732"/>
              <a:gd name="connsiteY0" fmla="*/ 86063 h 516368"/>
              <a:gd name="connsiteX1" fmla="*/ 86063 w 677732"/>
              <a:gd name="connsiteY1" fmla="*/ 0 h 516368"/>
              <a:gd name="connsiteX2" fmla="*/ 591669 w 677732"/>
              <a:gd name="connsiteY2" fmla="*/ 0 h 516368"/>
              <a:gd name="connsiteX3" fmla="*/ 677732 w 677732"/>
              <a:gd name="connsiteY3" fmla="*/ 86063 h 516368"/>
              <a:gd name="connsiteX4" fmla="*/ 677732 w 677732"/>
              <a:gd name="connsiteY4" fmla="*/ 430305 h 516368"/>
              <a:gd name="connsiteX5" fmla="*/ 591669 w 677732"/>
              <a:gd name="connsiteY5" fmla="*/ 516368 h 516368"/>
              <a:gd name="connsiteX6" fmla="*/ 86063 w 677732"/>
              <a:gd name="connsiteY6" fmla="*/ 516368 h 516368"/>
              <a:gd name="connsiteX7" fmla="*/ 0 w 677732"/>
              <a:gd name="connsiteY7" fmla="*/ 430305 h 516368"/>
              <a:gd name="connsiteX8" fmla="*/ 0 w 677732"/>
              <a:gd name="connsiteY8" fmla="*/ 86063 h 51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732" h="516368" extrusionOk="0">
                <a:moveTo>
                  <a:pt x="0" y="86063"/>
                </a:moveTo>
                <a:cubicBezTo>
                  <a:pt x="2906" y="31845"/>
                  <a:pt x="49447" y="1972"/>
                  <a:pt x="86063" y="0"/>
                </a:cubicBezTo>
                <a:cubicBezTo>
                  <a:pt x="271811" y="-17024"/>
                  <a:pt x="345375" y="12643"/>
                  <a:pt x="591669" y="0"/>
                </a:cubicBezTo>
                <a:cubicBezTo>
                  <a:pt x="641210" y="2829"/>
                  <a:pt x="687568" y="40205"/>
                  <a:pt x="677732" y="86063"/>
                </a:cubicBezTo>
                <a:cubicBezTo>
                  <a:pt x="674967" y="206296"/>
                  <a:pt x="664618" y="262669"/>
                  <a:pt x="677732" y="430305"/>
                </a:cubicBezTo>
                <a:cubicBezTo>
                  <a:pt x="677315" y="476776"/>
                  <a:pt x="631459" y="516008"/>
                  <a:pt x="591669" y="516368"/>
                </a:cubicBezTo>
                <a:cubicBezTo>
                  <a:pt x="486040" y="526399"/>
                  <a:pt x="335303" y="534681"/>
                  <a:pt x="86063" y="516368"/>
                </a:cubicBezTo>
                <a:cubicBezTo>
                  <a:pt x="30580" y="519636"/>
                  <a:pt x="3004" y="469956"/>
                  <a:pt x="0" y="430305"/>
                </a:cubicBezTo>
                <a:cubicBezTo>
                  <a:pt x="-8161" y="337428"/>
                  <a:pt x="16690" y="211709"/>
                  <a:pt x="0" y="86063"/>
                </a:cubicBezTo>
                <a:close/>
              </a:path>
            </a:pathLst>
          </a:custGeom>
          <a:noFill/>
          <a:ln w="38100">
            <a:solidFill>
              <a:schemeClr val="accent6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1B7801-2B3F-4B57-0616-D33316B6DA23}"/>
              </a:ext>
            </a:extLst>
          </p:cNvPr>
          <p:cNvSpPr/>
          <p:nvPr/>
        </p:nvSpPr>
        <p:spPr>
          <a:xfrm>
            <a:off x="6307119" y="3170815"/>
            <a:ext cx="677732" cy="516368"/>
          </a:xfrm>
          <a:custGeom>
            <a:avLst/>
            <a:gdLst>
              <a:gd name="connsiteX0" fmla="*/ 0 w 677732"/>
              <a:gd name="connsiteY0" fmla="*/ 86063 h 516368"/>
              <a:gd name="connsiteX1" fmla="*/ 86063 w 677732"/>
              <a:gd name="connsiteY1" fmla="*/ 0 h 516368"/>
              <a:gd name="connsiteX2" fmla="*/ 591669 w 677732"/>
              <a:gd name="connsiteY2" fmla="*/ 0 h 516368"/>
              <a:gd name="connsiteX3" fmla="*/ 677732 w 677732"/>
              <a:gd name="connsiteY3" fmla="*/ 86063 h 516368"/>
              <a:gd name="connsiteX4" fmla="*/ 677732 w 677732"/>
              <a:gd name="connsiteY4" fmla="*/ 430305 h 516368"/>
              <a:gd name="connsiteX5" fmla="*/ 591669 w 677732"/>
              <a:gd name="connsiteY5" fmla="*/ 516368 h 516368"/>
              <a:gd name="connsiteX6" fmla="*/ 86063 w 677732"/>
              <a:gd name="connsiteY6" fmla="*/ 516368 h 516368"/>
              <a:gd name="connsiteX7" fmla="*/ 0 w 677732"/>
              <a:gd name="connsiteY7" fmla="*/ 430305 h 516368"/>
              <a:gd name="connsiteX8" fmla="*/ 0 w 677732"/>
              <a:gd name="connsiteY8" fmla="*/ 86063 h 51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732" h="516368" extrusionOk="0">
                <a:moveTo>
                  <a:pt x="0" y="86063"/>
                </a:moveTo>
                <a:cubicBezTo>
                  <a:pt x="2906" y="31845"/>
                  <a:pt x="49447" y="1972"/>
                  <a:pt x="86063" y="0"/>
                </a:cubicBezTo>
                <a:cubicBezTo>
                  <a:pt x="271811" y="-17024"/>
                  <a:pt x="345375" y="12643"/>
                  <a:pt x="591669" y="0"/>
                </a:cubicBezTo>
                <a:cubicBezTo>
                  <a:pt x="641210" y="2829"/>
                  <a:pt x="687568" y="40205"/>
                  <a:pt x="677732" y="86063"/>
                </a:cubicBezTo>
                <a:cubicBezTo>
                  <a:pt x="674967" y="206296"/>
                  <a:pt x="664618" y="262669"/>
                  <a:pt x="677732" y="430305"/>
                </a:cubicBezTo>
                <a:cubicBezTo>
                  <a:pt x="677315" y="476776"/>
                  <a:pt x="631459" y="516008"/>
                  <a:pt x="591669" y="516368"/>
                </a:cubicBezTo>
                <a:cubicBezTo>
                  <a:pt x="486040" y="526399"/>
                  <a:pt x="335303" y="534681"/>
                  <a:pt x="86063" y="516368"/>
                </a:cubicBezTo>
                <a:cubicBezTo>
                  <a:pt x="30580" y="519636"/>
                  <a:pt x="3004" y="469956"/>
                  <a:pt x="0" y="430305"/>
                </a:cubicBezTo>
                <a:cubicBezTo>
                  <a:pt x="-8161" y="337428"/>
                  <a:pt x="16690" y="211709"/>
                  <a:pt x="0" y="86063"/>
                </a:cubicBezTo>
                <a:close/>
              </a:path>
            </a:pathLst>
          </a:custGeom>
          <a:noFill/>
          <a:ln w="3810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7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46DA-0FFE-0C71-2B7B-E4DA90FB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BD51-AFE8-36E6-42AD-8EFA74EF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30" y="365125"/>
            <a:ext cx="3548679" cy="93655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Computing p-Values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1F320-8489-F80F-5333-4833263CF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29" y="1301675"/>
            <a:ext cx="3548679" cy="301214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want to know what the probability of getting a table more “extreme” or “as extreme” as our current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EBF03-FBC7-B85A-BF87-1731FB750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26" y="453575"/>
            <a:ext cx="7772400" cy="5950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AE2BC-E8B0-C30C-B211-957CE50718B3}"/>
              </a:ext>
            </a:extLst>
          </p:cNvPr>
          <p:cNvSpPr txBox="1"/>
          <p:nvPr/>
        </p:nvSpPr>
        <p:spPr>
          <a:xfrm>
            <a:off x="614528" y="3775934"/>
            <a:ext cx="6270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Starting from your table, create the more “extreme” tables by dropping the lowest cell value by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CD818-980D-60FB-1B8D-D8A2F75611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51" t="51446" r="51499" b="37693"/>
          <a:stretch>
            <a:fillRect/>
          </a:stretch>
        </p:blipFill>
        <p:spPr>
          <a:xfrm>
            <a:off x="614528" y="4449701"/>
            <a:ext cx="1106696" cy="96364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E7EC85DD-BBF5-27D9-91B3-23529306B3A2}"/>
              </a:ext>
            </a:extLst>
          </p:cNvPr>
          <p:cNvSpPr/>
          <p:nvPr/>
        </p:nvSpPr>
        <p:spPr>
          <a:xfrm>
            <a:off x="1167876" y="4449701"/>
            <a:ext cx="553348" cy="4818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04875-552E-6807-4D2B-6E4EF74AE927}"/>
                  </a:ext>
                </a:extLst>
              </p:cNvPr>
              <p:cNvSpPr txBox="1"/>
              <p:nvPr/>
            </p:nvSpPr>
            <p:spPr>
              <a:xfrm>
                <a:off x="197446" y="5286892"/>
                <a:ext cx="19408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=18) =0.0138</m:t>
                      </m:r>
                    </m:oMath>
                  </m:oMathPara>
                </a14:m>
                <a:endParaRPr lang="en-US" sz="1400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04875-552E-6807-4D2B-6E4EF74AE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46" y="5286892"/>
                <a:ext cx="1940860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F827BF8-3F21-69A9-78FE-10992ED1FFC2}"/>
              </a:ext>
            </a:extLst>
          </p:cNvPr>
          <p:cNvGrpSpPr/>
          <p:nvPr/>
        </p:nvGrpSpPr>
        <p:grpSpPr>
          <a:xfrm>
            <a:off x="2143348" y="4449701"/>
            <a:ext cx="1575325" cy="2497525"/>
            <a:chOff x="2143348" y="4449701"/>
            <a:chExt cx="1575325" cy="24975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FE0DBD-30B4-58A3-7AB9-394479885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887" t="38739" r="51701" b="51273"/>
            <a:stretch>
              <a:fillRect/>
            </a:stretch>
          </p:blipFill>
          <p:spPr>
            <a:xfrm>
              <a:off x="2369371" y="4449701"/>
              <a:ext cx="1106696" cy="899189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6D3EEC-43AD-62F6-49AD-A4CFC4657980}"/>
                </a:ext>
              </a:extLst>
            </p:cNvPr>
            <p:cNvSpPr/>
            <p:nvPr/>
          </p:nvSpPr>
          <p:spPr>
            <a:xfrm>
              <a:off x="2911962" y="4449701"/>
              <a:ext cx="553348" cy="48182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041E88-F96B-8A19-13EF-743FC116A12C}"/>
                    </a:ext>
                  </a:extLst>
                </p:cNvPr>
                <p:cNvSpPr txBox="1"/>
                <p:nvPr/>
              </p:nvSpPr>
              <p:spPr>
                <a:xfrm>
                  <a:off x="2143348" y="5413345"/>
                  <a:ext cx="1575325" cy="15338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=19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0.0016</m:t>
                        </m:r>
                      </m:oMath>
                    </m:oMathPara>
                  </a14:m>
                  <a:endParaRPr lang="en-US" i="1" dirty="0">
                    <a:highlight>
                      <a:srgbClr val="FFFF00"/>
                    </a:highlight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041E88-F96B-8A19-13EF-743FC116A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3348" y="5413345"/>
                  <a:ext cx="1575325" cy="1533881"/>
                </a:xfrm>
                <a:prstGeom prst="rect">
                  <a:avLst/>
                </a:prstGeom>
                <a:blipFill>
                  <a:blip r:embed="rId5"/>
                  <a:stretch>
                    <a:fillRect b="-5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60DE94-C5F1-4628-DEF0-6FE19F269D82}"/>
              </a:ext>
            </a:extLst>
          </p:cNvPr>
          <p:cNvGrpSpPr/>
          <p:nvPr/>
        </p:nvGrpSpPr>
        <p:grpSpPr>
          <a:xfrm>
            <a:off x="3542960" y="4449701"/>
            <a:ext cx="1575325" cy="2497524"/>
            <a:chOff x="3542960" y="4449701"/>
            <a:chExt cx="1575325" cy="249752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1EDBF2C-3016-EDE2-6B93-3B392FAF0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112" t="26689" r="51753" b="64183"/>
            <a:stretch>
              <a:fillRect/>
            </a:stretch>
          </p:blipFill>
          <p:spPr>
            <a:xfrm>
              <a:off x="3749710" y="4454808"/>
              <a:ext cx="1161827" cy="888973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2897F51-2266-0524-1E91-5CA6CE8442B7}"/>
                </a:ext>
              </a:extLst>
            </p:cNvPr>
            <p:cNvSpPr/>
            <p:nvPr/>
          </p:nvSpPr>
          <p:spPr>
            <a:xfrm>
              <a:off x="4330622" y="4449701"/>
              <a:ext cx="553348" cy="48182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54240C-E945-080E-1134-04D5357D2AB2}"/>
                    </a:ext>
                  </a:extLst>
                </p:cNvPr>
                <p:cNvSpPr txBox="1"/>
                <p:nvPr/>
              </p:nvSpPr>
              <p:spPr>
                <a:xfrm>
                  <a:off x="3542960" y="5413344"/>
                  <a:ext cx="1575325" cy="15338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0.00007</m:t>
                        </m:r>
                      </m:oMath>
                    </m:oMathPara>
                  </a14:m>
                  <a:endParaRPr lang="en-US" i="1" dirty="0">
                    <a:highlight>
                      <a:srgbClr val="FFFF00"/>
                    </a:highlight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54240C-E945-080E-1134-04D5357D2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2960" y="5413344"/>
                  <a:ext cx="1575325" cy="1533881"/>
                </a:xfrm>
                <a:prstGeom prst="rect">
                  <a:avLst/>
                </a:prstGeom>
                <a:blipFill>
                  <a:blip r:embed="rId6"/>
                  <a:stretch>
                    <a:fillRect b="-5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50523F-9D47-D190-DAB6-FA1A11ED15E1}"/>
                  </a:ext>
                </a:extLst>
              </p:cNvPr>
              <p:cNvSpPr txBox="1"/>
              <p:nvPr/>
            </p:nvSpPr>
            <p:spPr>
              <a:xfrm>
                <a:off x="5118284" y="4449701"/>
                <a:ext cx="5015420" cy="92333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=18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=19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=0.0138+0.0016+0.00007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/>
                        <m:t>0.01547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50523F-9D47-D190-DAB6-FA1A11ED1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284" y="4449701"/>
                <a:ext cx="501542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81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57E5-4A33-C5D2-8056-68A46470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Matched-Pairs Experimental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70B68-4969-FC5D-8C67-72F51F9C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3" y="1549328"/>
            <a:ext cx="3938330" cy="1870157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B126E4C3-B86E-6D7E-B33C-C9D7186918BD}"/>
              </a:ext>
            </a:extLst>
          </p:cNvPr>
          <p:cNvGrpSpPr/>
          <p:nvPr/>
        </p:nvGrpSpPr>
        <p:grpSpPr>
          <a:xfrm>
            <a:off x="4672933" y="1571420"/>
            <a:ext cx="4845298" cy="4733586"/>
            <a:chOff x="4951608" y="1580128"/>
            <a:chExt cx="4845298" cy="47335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301E2DE-1E8D-3493-9F4F-B0CE9BFA4FEF}"/>
                </a:ext>
              </a:extLst>
            </p:cNvPr>
            <p:cNvGrpSpPr/>
            <p:nvPr/>
          </p:nvGrpSpPr>
          <p:grpSpPr>
            <a:xfrm>
              <a:off x="5761196" y="1585545"/>
              <a:ext cx="2356625" cy="307777"/>
              <a:chOff x="4787590" y="3466540"/>
              <a:chExt cx="2356625" cy="3077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076FEFD-79BA-0B70-98B9-4DFE26737DE8}"/>
                  </a:ext>
                </a:extLst>
              </p:cNvPr>
              <p:cNvSpPr/>
              <p:nvPr/>
            </p:nvSpPr>
            <p:spPr>
              <a:xfrm>
                <a:off x="4787590" y="3494049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93B28E-589B-5A21-501A-B2FE533E226A}"/>
                  </a:ext>
                </a:extLst>
              </p:cNvPr>
              <p:cNvSpPr txBox="1"/>
              <p:nvPr/>
            </p:nvSpPr>
            <p:spPr>
              <a:xfrm>
                <a:off x="5047785" y="3466540"/>
                <a:ext cx="2096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Treatment A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5DE530-6EBE-C1AD-7900-38FC50F4F1AF}"/>
                </a:ext>
              </a:extLst>
            </p:cNvPr>
            <p:cNvGrpSpPr/>
            <p:nvPr/>
          </p:nvGrpSpPr>
          <p:grpSpPr>
            <a:xfrm>
              <a:off x="7379185" y="1580128"/>
              <a:ext cx="2356625" cy="307777"/>
              <a:chOff x="4787590" y="3466540"/>
              <a:chExt cx="2356625" cy="30777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4DFC824-1453-200F-3DD5-837181E77832}"/>
                  </a:ext>
                </a:extLst>
              </p:cNvPr>
              <p:cNvSpPr/>
              <p:nvPr/>
            </p:nvSpPr>
            <p:spPr>
              <a:xfrm>
                <a:off x="4787590" y="3494049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340C36-F727-2B2F-15DD-0133B89CF33D}"/>
                  </a:ext>
                </a:extLst>
              </p:cNvPr>
              <p:cNvSpPr txBox="1"/>
              <p:nvPr/>
            </p:nvSpPr>
            <p:spPr>
              <a:xfrm>
                <a:off x="5047785" y="3466540"/>
                <a:ext cx="2096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Treatment B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E1FE5D-4940-A8FE-B6A1-962F4EE863BA}"/>
                </a:ext>
              </a:extLst>
            </p:cNvPr>
            <p:cNvGrpSpPr/>
            <p:nvPr/>
          </p:nvGrpSpPr>
          <p:grpSpPr>
            <a:xfrm>
              <a:off x="5536987" y="2366735"/>
              <a:ext cx="559013" cy="252762"/>
              <a:chOff x="4594818" y="3966117"/>
              <a:chExt cx="559013" cy="252762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5DF0371-EEC9-298E-CA55-2BB603BA1BE2}"/>
                  </a:ext>
                </a:extLst>
              </p:cNvPr>
              <p:cNvSpPr/>
              <p:nvPr/>
            </p:nvSpPr>
            <p:spPr>
              <a:xfrm>
                <a:off x="4594818" y="3966118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2F3E3CD-A0E4-D151-DE3F-397B2D4C04C7}"/>
                  </a:ext>
                </a:extLst>
              </p:cNvPr>
              <p:cNvSpPr/>
              <p:nvPr/>
            </p:nvSpPr>
            <p:spPr>
              <a:xfrm>
                <a:off x="4893636" y="3966117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2F6F89D-2263-4BFB-5DA5-7F84FCA5F1B1}"/>
                </a:ext>
              </a:extLst>
            </p:cNvPr>
            <p:cNvGrpSpPr/>
            <p:nvPr/>
          </p:nvGrpSpPr>
          <p:grpSpPr>
            <a:xfrm>
              <a:off x="5536987" y="2732887"/>
              <a:ext cx="559013" cy="252762"/>
              <a:chOff x="4594818" y="3966117"/>
              <a:chExt cx="559013" cy="252762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18CF44D-F715-5B5F-DABF-CF73487A19FE}"/>
                  </a:ext>
                </a:extLst>
              </p:cNvPr>
              <p:cNvSpPr/>
              <p:nvPr/>
            </p:nvSpPr>
            <p:spPr>
              <a:xfrm>
                <a:off x="4594818" y="3966118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1A1319E-9221-6CB4-4F23-228A479B3C16}"/>
                  </a:ext>
                </a:extLst>
              </p:cNvPr>
              <p:cNvSpPr/>
              <p:nvPr/>
            </p:nvSpPr>
            <p:spPr>
              <a:xfrm>
                <a:off x="4893636" y="3966117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CB7A63D-9765-66DA-5AA8-9E59F203DA38}"/>
                </a:ext>
              </a:extLst>
            </p:cNvPr>
            <p:cNvGrpSpPr/>
            <p:nvPr/>
          </p:nvGrpSpPr>
          <p:grpSpPr>
            <a:xfrm>
              <a:off x="5536987" y="5798443"/>
              <a:ext cx="559013" cy="252762"/>
              <a:chOff x="4594818" y="3966117"/>
              <a:chExt cx="559013" cy="25276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961E4A4-B425-48DD-A7B2-47471B8FCDC9}"/>
                  </a:ext>
                </a:extLst>
              </p:cNvPr>
              <p:cNvSpPr/>
              <p:nvPr/>
            </p:nvSpPr>
            <p:spPr>
              <a:xfrm>
                <a:off x="4594818" y="3966118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C48F651-5107-D766-8147-C030E92E4A9E}"/>
                  </a:ext>
                </a:extLst>
              </p:cNvPr>
              <p:cNvSpPr/>
              <p:nvPr/>
            </p:nvSpPr>
            <p:spPr>
              <a:xfrm>
                <a:off x="4893636" y="3966117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A6015E-12DA-FCB6-A47E-F3ADD6DC7C53}"/>
                </a:ext>
              </a:extLst>
            </p:cNvPr>
            <p:cNvSpPr txBox="1"/>
            <p:nvPr/>
          </p:nvSpPr>
          <p:spPr>
            <a:xfrm>
              <a:off x="4951608" y="2253345"/>
              <a:ext cx="75865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621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185D63-34E4-0C82-8AA7-3271E5D815F6}"/>
                </a:ext>
              </a:extLst>
            </p:cNvPr>
            <p:cNvCxnSpPr>
              <a:cxnSpLocks/>
            </p:cNvCxnSpPr>
            <p:nvPr/>
          </p:nvCxnSpPr>
          <p:spPr>
            <a:xfrm>
              <a:off x="8786712" y="2366735"/>
              <a:ext cx="0" cy="3946979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0DD819-7F0A-2746-FA17-84FA444AA92C}"/>
                </a:ext>
              </a:extLst>
            </p:cNvPr>
            <p:cNvSpPr txBox="1"/>
            <p:nvPr/>
          </p:nvSpPr>
          <p:spPr>
            <a:xfrm>
              <a:off x="7776518" y="1898739"/>
              <a:ext cx="2020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 years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8E043B0-92ED-BA18-034B-64758D59ACCE}"/>
                </a:ext>
              </a:extLst>
            </p:cNvPr>
            <p:cNvCxnSpPr/>
            <p:nvPr/>
          </p:nvCxnSpPr>
          <p:spPr>
            <a:xfrm>
              <a:off x="6313714" y="2427695"/>
              <a:ext cx="3483192" cy="0"/>
            </a:xfrm>
            <a:prstGeom prst="line">
              <a:avLst/>
            </a:prstGeom>
            <a:ln w="38100"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C2F18C-2006-0325-7272-377E7AD9142D}"/>
                </a:ext>
              </a:extLst>
            </p:cNvPr>
            <p:cNvCxnSpPr>
              <a:cxnSpLocks/>
            </p:cNvCxnSpPr>
            <p:nvPr/>
          </p:nvCxnSpPr>
          <p:spPr>
            <a:xfrm>
              <a:off x="6313714" y="2493689"/>
              <a:ext cx="2838995" cy="0"/>
            </a:xfrm>
            <a:prstGeom prst="line">
              <a:avLst/>
            </a:prstGeom>
            <a:ln w="38100">
              <a:solidFill>
                <a:schemeClr val="accent4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8CA487-FE59-3C7A-50B8-51D6E47C1181}"/>
                </a:ext>
              </a:extLst>
            </p:cNvPr>
            <p:cNvCxnSpPr>
              <a:cxnSpLocks/>
            </p:cNvCxnSpPr>
            <p:nvPr/>
          </p:nvCxnSpPr>
          <p:spPr>
            <a:xfrm>
              <a:off x="6313714" y="2832515"/>
              <a:ext cx="2995749" cy="0"/>
            </a:xfrm>
            <a:prstGeom prst="line">
              <a:avLst/>
            </a:prstGeom>
            <a:ln w="38100"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6CEE65F-AE9F-D6E2-A9C0-D89F71156EC5}"/>
                </a:ext>
              </a:extLst>
            </p:cNvPr>
            <p:cNvCxnSpPr>
              <a:cxnSpLocks/>
            </p:cNvCxnSpPr>
            <p:nvPr/>
          </p:nvCxnSpPr>
          <p:spPr>
            <a:xfrm>
              <a:off x="6313714" y="2912561"/>
              <a:ext cx="2255520" cy="0"/>
            </a:xfrm>
            <a:prstGeom prst="line">
              <a:avLst/>
            </a:prstGeom>
            <a:ln w="38100">
              <a:solidFill>
                <a:schemeClr val="accent4"/>
              </a:solidFill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5364A09-9608-C1FE-DA84-854C8D985881}"/>
                </a:ext>
              </a:extLst>
            </p:cNvPr>
            <p:cNvCxnSpPr>
              <a:cxnSpLocks/>
            </p:cNvCxnSpPr>
            <p:nvPr/>
          </p:nvCxnSpPr>
          <p:spPr>
            <a:xfrm>
              <a:off x="6222274" y="5879155"/>
              <a:ext cx="2346960" cy="0"/>
            </a:xfrm>
            <a:prstGeom prst="line">
              <a:avLst/>
            </a:prstGeom>
            <a:ln w="38100">
              <a:solidFill>
                <a:schemeClr val="accent5"/>
              </a:solidFill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950FEF5-8CD3-552E-6CA5-EC8033429DF1}"/>
                </a:ext>
              </a:extLst>
            </p:cNvPr>
            <p:cNvCxnSpPr>
              <a:cxnSpLocks/>
            </p:cNvCxnSpPr>
            <p:nvPr/>
          </p:nvCxnSpPr>
          <p:spPr>
            <a:xfrm>
              <a:off x="6222274" y="5959201"/>
              <a:ext cx="3383280" cy="0"/>
            </a:xfrm>
            <a:prstGeom prst="line">
              <a:avLst/>
            </a:prstGeom>
            <a:ln w="38100">
              <a:solidFill>
                <a:schemeClr val="accent4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D8CD1E6-FF1C-3A20-BEA8-F614B2A8830C}"/>
              </a:ext>
            </a:extLst>
          </p:cNvPr>
          <p:cNvSpPr txBox="1"/>
          <p:nvPr/>
        </p:nvSpPr>
        <p:spPr>
          <a:xfrm>
            <a:off x="9605556" y="2034860"/>
            <a:ext cx="1334738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B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BEA410-D3C2-7F18-4D9A-8D87CB8E1F55}"/>
              </a:ext>
            </a:extLst>
          </p:cNvPr>
          <p:cNvSpPr txBox="1"/>
          <p:nvPr/>
        </p:nvSpPr>
        <p:spPr>
          <a:xfrm>
            <a:off x="9118113" y="2580687"/>
            <a:ext cx="1334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B </a:t>
            </a:r>
            <a:r>
              <a:rPr lang="en-US" dirty="0">
                <a:solidFill>
                  <a:srgbClr val="FF0000"/>
                </a:solidFill>
              </a:rPr>
              <a:t>dies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C807A8-490A-57B5-E92A-EA4FADF20AAF}"/>
              </a:ext>
            </a:extLst>
          </p:cNvPr>
          <p:cNvSpPr txBox="1"/>
          <p:nvPr/>
        </p:nvSpPr>
        <p:spPr>
          <a:xfrm>
            <a:off x="9428819" y="5547281"/>
            <a:ext cx="1334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</a:rPr>
              <a:t>dies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4"/>
                </a:solidFill>
              </a:rPr>
              <a:t>B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</a:p>
        </p:txBody>
      </p:sp>
    </p:spTree>
    <p:extLst>
      <p:ext uri="{BB962C8B-B14F-4D97-AF65-F5344CB8AC3E}">
        <p14:creationId xmlns:p14="http://schemas.microsoft.com/office/powerpoint/2010/main" val="1358716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FBDE-E843-668D-1AF8-DAD60EDD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E9E1-0195-EB3F-BAD5-FF3D8805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Matched-Pairs Experimental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8EC74-4463-845F-C92C-89DDBDD2E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3" y="1549328"/>
            <a:ext cx="3938330" cy="1870157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2F494270-39B0-B5C8-B64C-43323BF60F04}"/>
              </a:ext>
            </a:extLst>
          </p:cNvPr>
          <p:cNvGrpSpPr/>
          <p:nvPr/>
        </p:nvGrpSpPr>
        <p:grpSpPr>
          <a:xfrm>
            <a:off x="4672933" y="1571420"/>
            <a:ext cx="4845298" cy="4733586"/>
            <a:chOff x="4951608" y="1580128"/>
            <a:chExt cx="4845298" cy="47335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0C2F455-7F26-36C2-744B-ECF1D81D43A7}"/>
                </a:ext>
              </a:extLst>
            </p:cNvPr>
            <p:cNvGrpSpPr/>
            <p:nvPr/>
          </p:nvGrpSpPr>
          <p:grpSpPr>
            <a:xfrm>
              <a:off x="5761196" y="1585545"/>
              <a:ext cx="2356625" cy="307777"/>
              <a:chOff x="4787590" y="3466540"/>
              <a:chExt cx="2356625" cy="3077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ADCDD0-4512-10E1-BF3E-2AE3FA306BED}"/>
                  </a:ext>
                </a:extLst>
              </p:cNvPr>
              <p:cNvSpPr/>
              <p:nvPr/>
            </p:nvSpPr>
            <p:spPr>
              <a:xfrm>
                <a:off x="4787590" y="3494049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CB64B5-FEC9-C182-BC2E-14CE2B283682}"/>
                  </a:ext>
                </a:extLst>
              </p:cNvPr>
              <p:cNvSpPr txBox="1"/>
              <p:nvPr/>
            </p:nvSpPr>
            <p:spPr>
              <a:xfrm>
                <a:off x="5047785" y="3466540"/>
                <a:ext cx="2096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Treatment A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80D634D-EF4A-7CDB-13EB-F6D4671A9374}"/>
                </a:ext>
              </a:extLst>
            </p:cNvPr>
            <p:cNvGrpSpPr/>
            <p:nvPr/>
          </p:nvGrpSpPr>
          <p:grpSpPr>
            <a:xfrm>
              <a:off x="7379185" y="1580128"/>
              <a:ext cx="2356625" cy="307777"/>
              <a:chOff x="4787590" y="3466540"/>
              <a:chExt cx="2356625" cy="30777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6DCE9D2-9E5B-8D66-09C7-A858091D7519}"/>
                  </a:ext>
                </a:extLst>
              </p:cNvPr>
              <p:cNvSpPr/>
              <p:nvPr/>
            </p:nvSpPr>
            <p:spPr>
              <a:xfrm>
                <a:off x="4787590" y="3494049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883430-3391-2DBA-345C-1562785D65C2}"/>
                  </a:ext>
                </a:extLst>
              </p:cNvPr>
              <p:cNvSpPr txBox="1"/>
              <p:nvPr/>
            </p:nvSpPr>
            <p:spPr>
              <a:xfrm>
                <a:off x="5047785" y="3466540"/>
                <a:ext cx="2096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Treatment B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BE69D2-A7D1-AEBC-ECD0-82FDF6EB098E}"/>
                </a:ext>
              </a:extLst>
            </p:cNvPr>
            <p:cNvGrpSpPr/>
            <p:nvPr/>
          </p:nvGrpSpPr>
          <p:grpSpPr>
            <a:xfrm>
              <a:off x="5536987" y="2366735"/>
              <a:ext cx="559013" cy="252762"/>
              <a:chOff x="4594818" y="3966117"/>
              <a:chExt cx="559013" cy="252762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72A90F0-BF9F-1EFF-677D-7B58BA2E57B3}"/>
                  </a:ext>
                </a:extLst>
              </p:cNvPr>
              <p:cNvSpPr/>
              <p:nvPr/>
            </p:nvSpPr>
            <p:spPr>
              <a:xfrm>
                <a:off x="4594818" y="3966118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6AD89BC-69D6-19DD-5EFC-389C21CEF431}"/>
                  </a:ext>
                </a:extLst>
              </p:cNvPr>
              <p:cNvSpPr/>
              <p:nvPr/>
            </p:nvSpPr>
            <p:spPr>
              <a:xfrm>
                <a:off x="4893636" y="3966117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CC6A78F-5C91-C007-1D42-FE5C1CBF2286}"/>
                </a:ext>
              </a:extLst>
            </p:cNvPr>
            <p:cNvGrpSpPr/>
            <p:nvPr/>
          </p:nvGrpSpPr>
          <p:grpSpPr>
            <a:xfrm>
              <a:off x="5536987" y="2732887"/>
              <a:ext cx="559013" cy="252762"/>
              <a:chOff x="4594818" y="3966117"/>
              <a:chExt cx="559013" cy="252762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985F858-6EFB-90FB-409B-BDD58758F309}"/>
                  </a:ext>
                </a:extLst>
              </p:cNvPr>
              <p:cNvSpPr/>
              <p:nvPr/>
            </p:nvSpPr>
            <p:spPr>
              <a:xfrm>
                <a:off x="4594818" y="3966118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926221D-DB3A-1C63-F905-E195C84D6176}"/>
                  </a:ext>
                </a:extLst>
              </p:cNvPr>
              <p:cNvSpPr/>
              <p:nvPr/>
            </p:nvSpPr>
            <p:spPr>
              <a:xfrm>
                <a:off x="4893636" y="3966117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ED26B49-9D59-F829-6508-45E36A3BB69F}"/>
                </a:ext>
              </a:extLst>
            </p:cNvPr>
            <p:cNvGrpSpPr/>
            <p:nvPr/>
          </p:nvGrpSpPr>
          <p:grpSpPr>
            <a:xfrm>
              <a:off x="5536987" y="5798443"/>
              <a:ext cx="559013" cy="252762"/>
              <a:chOff x="4594818" y="3966117"/>
              <a:chExt cx="559013" cy="25276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0A5D8A1-597A-4838-9E70-0CDBA9B4611D}"/>
                  </a:ext>
                </a:extLst>
              </p:cNvPr>
              <p:cNvSpPr/>
              <p:nvPr/>
            </p:nvSpPr>
            <p:spPr>
              <a:xfrm>
                <a:off x="4594818" y="3966118"/>
                <a:ext cx="260195" cy="25276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191C273-794A-FEB8-27B5-D223DFDBF356}"/>
                  </a:ext>
                </a:extLst>
              </p:cNvPr>
              <p:cNvSpPr/>
              <p:nvPr/>
            </p:nvSpPr>
            <p:spPr>
              <a:xfrm>
                <a:off x="4893636" y="3966117"/>
                <a:ext cx="260195" cy="25276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57FDF6-6AF5-AD1B-B8C8-0F399D1B0136}"/>
                </a:ext>
              </a:extLst>
            </p:cNvPr>
            <p:cNvSpPr txBox="1"/>
            <p:nvPr/>
          </p:nvSpPr>
          <p:spPr>
            <a:xfrm>
              <a:off x="4951608" y="2253345"/>
              <a:ext cx="75865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621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95E1C80-0C31-BB1B-5F36-3A5D3984B84B}"/>
                </a:ext>
              </a:extLst>
            </p:cNvPr>
            <p:cNvCxnSpPr>
              <a:cxnSpLocks/>
            </p:cNvCxnSpPr>
            <p:nvPr/>
          </p:nvCxnSpPr>
          <p:spPr>
            <a:xfrm>
              <a:off x="8786712" y="2366735"/>
              <a:ext cx="0" cy="3946979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4DB055-441D-F0C9-E806-0422CCB7AF76}"/>
                </a:ext>
              </a:extLst>
            </p:cNvPr>
            <p:cNvSpPr txBox="1"/>
            <p:nvPr/>
          </p:nvSpPr>
          <p:spPr>
            <a:xfrm>
              <a:off x="7776518" y="1898739"/>
              <a:ext cx="2020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 years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028CE3-2809-3A68-71F5-A9542B9E3CD4}"/>
                </a:ext>
              </a:extLst>
            </p:cNvPr>
            <p:cNvCxnSpPr/>
            <p:nvPr/>
          </p:nvCxnSpPr>
          <p:spPr>
            <a:xfrm>
              <a:off x="6313714" y="2427695"/>
              <a:ext cx="3483192" cy="0"/>
            </a:xfrm>
            <a:prstGeom prst="line">
              <a:avLst/>
            </a:prstGeom>
            <a:ln w="38100"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272E54-A22A-902C-0AD5-B4A2E2CF1328}"/>
                </a:ext>
              </a:extLst>
            </p:cNvPr>
            <p:cNvCxnSpPr>
              <a:cxnSpLocks/>
            </p:cNvCxnSpPr>
            <p:nvPr/>
          </p:nvCxnSpPr>
          <p:spPr>
            <a:xfrm>
              <a:off x="6313714" y="2493689"/>
              <a:ext cx="2838995" cy="0"/>
            </a:xfrm>
            <a:prstGeom prst="line">
              <a:avLst/>
            </a:prstGeom>
            <a:ln w="38100">
              <a:solidFill>
                <a:schemeClr val="accent4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6A003EF-0D82-5775-0BCB-BFCA7870BFBB}"/>
                </a:ext>
              </a:extLst>
            </p:cNvPr>
            <p:cNvCxnSpPr>
              <a:cxnSpLocks/>
            </p:cNvCxnSpPr>
            <p:nvPr/>
          </p:nvCxnSpPr>
          <p:spPr>
            <a:xfrm>
              <a:off x="6313714" y="2832515"/>
              <a:ext cx="2995749" cy="0"/>
            </a:xfrm>
            <a:prstGeom prst="line">
              <a:avLst/>
            </a:prstGeom>
            <a:ln w="38100"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B60EE7C-2DD9-B8B4-4152-2CF6D0E55B8D}"/>
                </a:ext>
              </a:extLst>
            </p:cNvPr>
            <p:cNvCxnSpPr>
              <a:cxnSpLocks/>
            </p:cNvCxnSpPr>
            <p:nvPr/>
          </p:nvCxnSpPr>
          <p:spPr>
            <a:xfrm>
              <a:off x="6313714" y="2912561"/>
              <a:ext cx="2255520" cy="0"/>
            </a:xfrm>
            <a:prstGeom prst="line">
              <a:avLst/>
            </a:prstGeom>
            <a:ln w="38100">
              <a:solidFill>
                <a:schemeClr val="accent4"/>
              </a:solidFill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7647F0-3C76-E543-02A7-C3B5551E4123}"/>
                </a:ext>
              </a:extLst>
            </p:cNvPr>
            <p:cNvCxnSpPr>
              <a:cxnSpLocks/>
            </p:cNvCxnSpPr>
            <p:nvPr/>
          </p:nvCxnSpPr>
          <p:spPr>
            <a:xfrm>
              <a:off x="6222274" y="5879155"/>
              <a:ext cx="2346960" cy="0"/>
            </a:xfrm>
            <a:prstGeom prst="line">
              <a:avLst/>
            </a:prstGeom>
            <a:ln w="38100">
              <a:solidFill>
                <a:schemeClr val="accent5"/>
              </a:solidFill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0240817-0135-7527-E9E5-7268D4A434E8}"/>
                </a:ext>
              </a:extLst>
            </p:cNvPr>
            <p:cNvCxnSpPr>
              <a:cxnSpLocks/>
            </p:cNvCxnSpPr>
            <p:nvPr/>
          </p:nvCxnSpPr>
          <p:spPr>
            <a:xfrm>
              <a:off x="6222274" y="5959201"/>
              <a:ext cx="3383280" cy="0"/>
            </a:xfrm>
            <a:prstGeom prst="line">
              <a:avLst/>
            </a:prstGeom>
            <a:ln w="38100">
              <a:solidFill>
                <a:schemeClr val="accent4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F00BDF3-202E-0453-4696-A050CE67A1FC}"/>
              </a:ext>
            </a:extLst>
          </p:cNvPr>
          <p:cNvSpPr txBox="1"/>
          <p:nvPr/>
        </p:nvSpPr>
        <p:spPr>
          <a:xfrm>
            <a:off x="9605556" y="2034860"/>
            <a:ext cx="1334738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B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E2473-4F34-D950-4157-39E4742145D2}"/>
              </a:ext>
            </a:extLst>
          </p:cNvPr>
          <p:cNvSpPr txBox="1"/>
          <p:nvPr/>
        </p:nvSpPr>
        <p:spPr>
          <a:xfrm>
            <a:off x="9118113" y="2580687"/>
            <a:ext cx="133473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B </a:t>
            </a:r>
            <a:r>
              <a:rPr lang="en-US" dirty="0">
                <a:solidFill>
                  <a:srgbClr val="FF0000"/>
                </a:solidFill>
              </a:rPr>
              <a:t>dies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1C6D22-269D-47F8-F975-F593F44F135B}"/>
              </a:ext>
            </a:extLst>
          </p:cNvPr>
          <p:cNvSpPr txBox="1"/>
          <p:nvPr/>
        </p:nvSpPr>
        <p:spPr>
          <a:xfrm>
            <a:off x="9428819" y="5547281"/>
            <a:ext cx="1334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</a:rPr>
              <a:t>dies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4"/>
                </a:solidFill>
              </a:rPr>
              <a:t>B </a:t>
            </a:r>
            <a:r>
              <a:rPr lang="en-US" dirty="0">
                <a:solidFill>
                  <a:schemeClr val="accent6"/>
                </a:solidFill>
              </a:rPr>
              <a:t>survives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7C722A-CB49-A8D7-2621-73C92A318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76" y="4095415"/>
            <a:ext cx="4013624" cy="2098197"/>
          </a:xfrm>
          <a:prstGeom prst="rect">
            <a:avLst/>
          </a:prstGeom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EBA35E1A-DCFF-4DF6-CD2A-23C96F4F81EA}"/>
              </a:ext>
            </a:extLst>
          </p:cNvPr>
          <p:cNvSpPr/>
          <p:nvPr/>
        </p:nvSpPr>
        <p:spPr>
          <a:xfrm>
            <a:off x="2358478" y="3488421"/>
            <a:ext cx="496389" cy="5856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E833280-0ED9-3037-31D5-87E1334EECCD}"/>
              </a:ext>
            </a:extLst>
          </p:cNvPr>
          <p:cNvSpPr/>
          <p:nvPr/>
        </p:nvSpPr>
        <p:spPr>
          <a:xfrm>
            <a:off x="9605556" y="2034860"/>
            <a:ext cx="1227907" cy="64633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F789C-9B11-0AFF-EB1D-407BD2E06A7C}"/>
              </a:ext>
            </a:extLst>
          </p:cNvPr>
          <p:cNvSpPr txBox="1"/>
          <p:nvPr/>
        </p:nvSpPr>
        <p:spPr>
          <a:xfrm>
            <a:off x="10833463" y="2116644"/>
            <a:ext cx="127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Concordant pair 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A2BFFB0-5C7E-BF5B-7BE5-0A9ECFBC6AEE}"/>
              </a:ext>
            </a:extLst>
          </p:cNvPr>
          <p:cNvSpPr/>
          <p:nvPr/>
        </p:nvSpPr>
        <p:spPr>
          <a:xfrm>
            <a:off x="2151017" y="5294811"/>
            <a:ext cx="836023" cy="2524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FBED9D-7044-1572-489A-577715E53A7A}"/>
              </a:ext>
            </a:extLst>
          </p:cNvPr>
          <p:cNvSpPr/>
          <p:nvPr/>
        </p:nvSpPr>
        <p:spPr>
          <a:xfrm>
            <a:off x="9135173" y="2603233"/>
            <a:ext cx="1201544" cy="61623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6815A0B-2D2B-2B66-7A81-119FC1688F82}"/>
              </a:ext>
            </a:extLst>
          </p:cNvPr>
          <p:cNvSpPr/>
          <p:nvPr/>
        </p:nvSpPr>
        <p:spPr>
          <a:xfrm>
            <a:off x="9428819" y="5562331"/>
            <a:ext cx="1201544" cy="61623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391F7C6-804E-AABB-F35C-E65FDD834430}"/>
              </a:ext>
            </a:extLst>
          </p:cNvPr>
          <p:cNvSpPr/>
          <p:nvPr/>
        </p:nvSpPr>
        <p:spPr>
          <a:xfrm>
            <a:off x="2995606" y="5308671"/>
            <a:ext cx="858486" cy="253659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0D83DF1-F6B0-654F-F200-4DB877CBD9C9}"/>
              </a:ext>
            </a:extLst>
          </p:cNvPr>
          <p:cNvSpPr/>
          <p:nvPr/>
        </p:nvSpPr>
        <p:spPr>
          <a:xfrm>
            <a:off x="2137120" y="5562330"/>
            <a:ext cx="858486" cy="253659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7D761B-E532-5FFE-BD79-DF84268CACB6}"/>
              </a:ext>
            </a:extLst>
          </p:cNvPr>
          <p:cNvSpPr txBox="1"/>
          <p:nvPr/>
        </p:nvSpPr>
        <p:spPr>
          <a:xfrm>
            <a:off x="10833463" y="3968186"/>
            <a:ext cx="127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2"/>
                </a:solidFill>
              </a:rPr>
              <a:t>Discordant pair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5CACED-87DB-5ED5-521F-FA7917B4F787}"/>
              </a:ext>
            </a:extLst>
          </p:cNvPr>
          <p:cNvCxnSpPr>
            <a:stCxn id="37" idx="0"/>
          </p:cNvCxnSpPr>
          <p:nvPr/>
        </p:nvCxnSpPr>
        <p:spPr>
          <a:xfrm flipH="1" flipV="1">
            <a:off x="10336717" y="3227018"/>
            <a:ext cx="1132352" cy="7411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20AF24D-5BD9-D618-8036-118FF3AEA14C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10630363" y="4491406"/>
            <a:ext cx="838706" cy="10709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2010B98-4F0A-0C4B-8C5F-D8BA9DEE1299}"/>
              </a:ext>
            </a:extLst>
          </p:cNvPr>
          <p:cNvSpPr/>
          <p:nvPr/>
        </p:nvSpPr>
        <p:spPr>
          <a:xfrm>
            <a:off x="9158644" y="2642212"/>
            <a:ext cx="1146043" cy="573352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0AA11B-D17F-D7FE-8D9D-EE713ED81E3E}"/>
              </a:ext>
            </a:extLst>
          </p:cNvPr>
          <p:cNvSpPr txBox="1"/>
          <p:nvPr/>
        </p:nvSpPr>
        <p:spPr>
          <a:xfrm>
            <a:off x="10304687" y="2696243"/>
            <a:ext cx="1491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Type A Discordant Pair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C193310-90AA-A436-2FA3-FD9F9DA5D540}"/>
              </a:ext>
            </a:extLst>
          </p:cNvPr>
          <p:cNvSpPr/>
          <p:nvPr/>
        </p:nvSpPr>
        <p:spPr>
          <a:xfrm>
            <a:off x="3017704" y="5331785"/>
            <a:ext cx="827821" cy="215496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58A91A-8BF5-5A35-1471-6AF0D78D0BC2}"/>
              </a:ext>
            </a:extLst>
          </p:cNvPr>
          <p:cNvSpPr txBox="1"/>
          <p:nvPr/>
        </p:nvSpPr>
        <p:spPr>
          <a:xfrm>
            <a:off x="10607921" y="5662867"/>
            <a:ext cx="1491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Type B Discordant Pair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E6D2305-78D4-2B78-95BC-2FA4E6A01E3F}"/>
              </a:ext>
            </a:extLst>
          </p:cNvPr>
          <p:cNvSpPr/>
          <p:nvPr/>
        </p:nvSpPr>
        <p:spPr>
          <a:xfrm>
            <a:off x="9453153" y="5583770"/>
            <a:ext cx="1146043" cy="57335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8C9BDC7-CB6A-56A3-E2AD-00D815EA0A1F}"/>
              </a:ext>
            </a:extLst>
          </p:cNvPr>
          <p:cNvSpPr/>
          <p:nvPr/>
        </p:nvSpPr>
        <p:spPr>
          <a:xfrm>
            <a:off x="2149172" y="5583770"/>
            <a:ext cx="837868" cy="23352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3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 animBg="1"/>
      <p:bldP spid="27" grpId="0" animBg="1"/>
      <p:bldP spid="30" grpId="0" animBg="1"/>
      <p:bldP spid="33" grpId="0" animBg="1"/>
      <p:bldP spid="34" grpId="0" animBg="1"/>
      <p:bldP spid="37" grpId="0"/>
      <p:bldP spid="37" grpId="1"/>
      <p:bldP spid="47" grpId="0" animBg="1"/>
      <p:bldP spid="47" grpId="1" animBg="1"/>
      <p:bldP spid="49" grpId="0"/>
      <p:bldP spid="50" grpId="1" animBg="1"/>
      <p:bldP spid="52" grpId="0"/>
      <p:bldP spid="53" grpId="1" animBg="1"/>
      <p:bldP spid="54" grpId="0" animBg="1"/>
      <p:bldP spid="5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47D7-B9A3-5E91-B86C-B961C3E0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F16B-2687-02B6-EF11-E544893E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McNemar’s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23CF8E3-F294-7EEB-7731-E10CE909E3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266786"/>
                  </p:ext>
                </p:extLst>
              </p:nvPr>
            </p:nvGraphicFramePr>
            <p:xfrm>
              <a:off x="494852" y="1335317"/>
              <a:ext cx="11510682" cy="53982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894">
                      <a:extLst>
                        <a:ext uri="{9D8B030D-6E8A-4147-A177-3AD203B41FA5}">
                          <a16:colId xmlns:a16="http://schemas.microsoft.com/office/drawing/2014/main" val="1159061696"/>
                        </a:ext>
                      </a:extLst>
                    </a:gridCol>
                    <a:gridCol w="4223972">
                      <a:extLst>
                        <a:ext uri="{9D8B030D-6E8A-4147-A177-3AD203B41FA5}">
                          <a16:colId xmlns:a16="http://schemas.microsoft.com/office/drawing/2014/main" val="3778204572"/>
                        </a:ext>
                      </a:extLst>
                    </a:gridCol>
                    <a:gridCol w="3449816">
                      <a:extLst>
                        <a:ext uri="{9D8B030D-6E8A-4147-A177-3AD203B41FA5}">
                          <a16:colId xmlns:a16="http://schemas.microsoft.com/office/drawing/2014/main" val="441063205"/>
                        </a:ext>
                      </a:extLst>
                    </a:gridCol>
                  </a:tblGrid>
                  <a:tr h="36642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Normal Approximation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Exact Test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0154658"/>
                      </a:ext>
                    </a:extLst>
                  </a:tr>
                  <a:tr h="1397932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Hypotheses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dirty="0"/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/>
                                <m:t>𝑝</m:t>
                              </m:r>
                            </m:oMath>
                          </a14:m>
                          <a:r>
                            <a:rPr lang="en-US" b="0" dirty="0"/>
                            <a:t> be the probability</a:t>
                          </a:r>
                          <a:r>
                            <a:rPr lang="en-US" b="0" baseline="0" dirty="0"/>
                            <a:t> that a discordant pair is of type A. </a:t>
                          </a:r>
                        </a:p>
                        <a:p>
                          <a:endParaRPr lang="en-US" b="0" baseline="0" dirty="0"/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smtClean="0"/>
                                  </m:ctrlPr>
                                </m:sSubPr>
                                <m:e>
                                  <m:r>
                                    <a:rPr lang="en-US" b="0" smtClean="0"/>
                                    <m:t>𝐻</m:t>
                                  </m:r>
                                </m:e>
                                <m:sub>
                                  <m:r>
                                    <a:rPr lang="en-US" b="0" smtClean="0"/>
                                    <m:t>0</m:t>
                                  </m:r>
                                </m:sub>
                              </m:sSub>
                              <m:r>
                                <a:rPr lang="en-US" b="0" smtClean="0"/>
                                <m:t>:</m:t>
                              </m:r>
                              <m:r>
                                <a:rPr lang="en-US" b="0" smtClean="0"/>
                                <m:t>𝑝</m:t>
                              </m:r>
                              <m:r>
                                <a:rPr lang="en-US" b="0" smtClean="0"/>
                                <m:t>=</m:t>
                              </m:r>
                              <m:f>
                                <m:fPr>
                                  <m:ctrlPr>
                                    <a:rPr lang="en-US" b="0" smtClean="0"/>
                                  </m:ctrlPr>
                                </m:fPr>
                                <m:num>
                                  <m:r>
                                    <a:rPr lang="en-US" b="0" smtClean="0"/>
                                    <m:t>1</m:t>
                                  </m:r>
                                </m:num>
                                <m:den>
                                  <m:r>
                                    <a:rPr lang="en-US" b="0" smtClean="0"/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b="0" dirty="0"/>
                            <a:t> </a:t>
                          </a:r>
                          <a:r>
                            <a:rPr lang="en-US" b="0" baseline="0" dirty="0"/>
                            <a:t> treatment A and B are equally effective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smtClean="0"/>
                                  </m:ctrlPr>
                                </m:sSubPr>
                                <m:e>
                                  <m:r>
                                    <a:rPr lang="en-US" b="0" smtClean="0"/>
                                    <m:t>𝐻</m:t>
                                  </m:r>
                                </m:e>
                                <m:sub>
                                  <m:r>
                                    <a:rPr lang="en-US" b="0" smtClean="0"/>
                                    <m:t>1</m:t>
                                  </m:r>
                                </m:sub>
                              </m:sSub>
                              <m:r>
                                <a:rPr lang="en-US" b="0" smtClean="0"/>
                                <m:t>:</m:t>
                              </m:r>
                              <m:r>
                                <a:rPr lang="en-US" b="0" smtClean="0"/>
                                <m:t>𝑝</m:t>
                              </m:r>
                              <m:r>
                                <a:rPr lang="en-US" b="0" smtClean="0"/>
                                <m:t> ≠</m:t>
                              </m:r>
                              <m:f>
                                <m:fPr>
                                  <m:ctrlPr>
                                    <a:rPr lang="en-US" b="0" smtClean="0"/>
                                  </m:ctrlPr>
                                </m:fPr>
                                <m:num>
                                  <m:r>
                                    <a:rPr lang="en-US" b="0" smtClean="0"/>
                                    <m:t>1</m:t>
                                  </m:r>
                                </m:num>
                                <m:den>
                                  <m:r>
                                    <a:rPr lang="en-US" b="0" smtClean="0"/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b="0" dirty="0"/>
                            <a:t> </a:t>
                          </a:r>
                          <a:r>
                            <a:rPr lang="en-US" b="0" baseline="0" dirty="0"/>
                            <a:t> treatment A and B are not equally effective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627187"/>
                      </a:ext>
                    </a:extLst>
                  </a:tr>
                  <a:tr h="451567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Use 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smtClean="0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smtClean="0"/>
                                      </m:ctrlPr>
                                    </m:sSubPr>
                                    <m:e>
                                      <m:r>
                                        <a:rPr lang="en-US" b="0" smtClean="0"/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smtClean="0"/>
                                        <m:t>𝐷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smtClean="0"/>
                                    <m:t>4</m:t>
                                  </m:r>
                                </m:den>
                              </m:f>
                              <m:r>
                                <a:rPr lang="en-US" b="0" smtClean="0"/>
                                <m:t>≥5</m:t>
                              </m:r>
                            </m:oMath>
                          </a14:m>
                          <a:r>
                            <a:rPr lang="en-US" b="0" dirty="0"/>
                            <a:t> or</a:t>
                          </a:r>
                          <a:r>
                            <a:rPr lang="en-US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baseline="0" smtClean="0"/>
                                  </m:ctrlPr>
                                </m:sSubPr>
                                <m:e>
                                  <m:r>
                                    <a:rPr lang="en-US" b="0" baseline="0" smtClean="0"/>
                                    <m:t>𝑛</m:t>
                                  </m:r>
                                </m:e>
                                <m:sub>
                                  <m:r>
                                    <a:rPr lang="en-US" b="0" baseline="0" smtClean="0"/>
                                    <m:t>𝐷</m:t>
                                  </m:r>
                                </m:sub>
                              </m:sSub>
                              <m:r>
                                <a:rPr lang="en-US" b="0" baseline="0" smtClean="0"/>
                                <m:t>≥20</m:t>
                              </m:r>
                            </m:oMath>
                          </a14:m>
                          <a:endParaRPr lang="en-US" b="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smtClean="0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smtClean="0"/>
                                      </m:ctrlPr>
                                    </m:sSubPr>
                                    <m:e>
                                      <m:r>
                                        <a:rPr lang="en-US" b="0" smtClean="0"/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smtClean="0"/>
                                        <m:t>𝐷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smtClean="0"/>
                                    <m:t>4</m:t>
                                  </m:r>
                                </m:den>
                              </m:f>
                              <m:r>
                                <a:rPr lang="en-US" b="0" smtClean="0"/>
                                <m:t>&lt;5</m:t>
                              </m:r>
                            </m:oMath>
                          </a14:m>
                          <a:r>
                            <a:rPr lang="en-US" b="0" dirty="0"/>
                            <a:t> or</a:t>
                          </a:r>
                          <a:r>
                            <a:rPr lang="en-US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baseline="0" smtClean="0"/>
                                  </m:ctrlPr>
                                </m:sSubPr>
                                <m:e>
                                  <m:r>
                                    <a:rPr lang="en-US" b="0" baseline="0" smtClean="0"/>
                                    <m:t>𝑛</m:t>
                                  </m:r>
                                </m:e>
                                <m:sub>
                                  <m:r>
                                    <a:rPr lang="en-US" b="0" baseline="0" smtClean="0"/>
                                    <m:t>𝐷</m:t>
                                  </m:r>
                                </m:sub>
                              </m:sSub>
                              <m:r>
                                <a:rPr lang="en-US" b="0" baseline="0" smtClean="0"/>
                                <m:t>&lt;20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665675"/>
                      </a:ext>
                    </a:extLst>
                  </a:tr>
                  <a:tr h="3098354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Test Statistic/ Decision Rule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smtClean="0"/>
                                    </m:ctrlPr>
                                  </m:sSupPr>
                                  <m:e>
                                    <m:r>
                                      <a:rPr lang="en-US" b="0" smtClean="0"/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b="0" smtClean="0"/>
                                      <m:t>2</m:t>
                                    </m:r>
                                  </m:sup>
                                </m:sSup>
                                <m:r>
                                  <a:rPr lang="en-US" b="0" smtClean="0"/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smtClean="0"/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smtClean="0"/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smtClean="0"/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smtClean="0"/>
                                                  <m:t>𝐴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smtClean="0"/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en-US" b="0" smtClean="0"/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b="0" smtClean="0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b="0" smtClean="0"/>
                                                      <m:t>n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b="0" smtClean="0"/>
                                                      <m:t>D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b="0" smtClean="0"/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US" b="0" smtClean="0"/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b="0" smtClean="0"/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smtClean="0"/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smtClean="0"/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b="0" smtClean="0"/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lit/>
                                  </m:rPr>
                                  <a:rPr lang="en-US" b="0" smtClean="0"/>
                                  <m:t>/</m:t>
                                </m:r>
                                <m:d>
                                  <m:dPr>
                                    <m:ctrlPr>
                                      <a:rPr lang="en-US" b="0" smtClean="0"/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smtClean="0"/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smtClean="0"/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smtClean="0"/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smtClean="0"/>
                                              <m:t>D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smtClean="0"/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r>
                            <a:rPr lang="en-US" b="0" dirty="0"/>
                            <a:t>or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smtClean="0"/>
                                  </m:ctrlPr>
                                </m:sSupPr>
                                <m:e>
                                  <m:r>
                                    <a:rPr lang="en-US" b="0" smtClean="0"/>
                                    <m:t>𝜒</m:t>
                                  </m:r>
                                </m:e>
                                <m:sup>
                                  <m:r>
                                    <a:rPr lang="en-US" b="0" smtClean="0"/>
                                    <m:t>2</m:t>
                                  </m:r>
                                </m:sup>
                              </m:sSup>
                              <m:r>
                                <a:rPr lang="en-US" b="0" smtClean="0"/>
                                <m:t>=</m:t>
                              </m:r>
                              <m:sSup>
                                <m:sSupPr>
                                  <m:ctrlPr>
                                    <a:rPr lang="en-US" b="0" smtClean="0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smtClean="0"/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smtClean="0"/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smtClean="0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smtClean="0"/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smtClean="0"/>
                                                <m:t>𝐴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smtClean="0"/>
                                            <m:t>–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smtClean="0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smtClean="0"/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smtClean="0"/>
                                                <m:t>𝐵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smtClean="0"/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smtClean="0"/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lit/>
                                </m:rPr>
                                <a:rPr lang="en-US" b="0" smtClean="0"/>
                                <m:t>/</m:t>
                              </m:r>
                              <m:d>
                                <m:dPr>
                                  <m:ctrlPr>
                                    <a:rPr lang="en-US" b="0" smtClean="0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smtClean="0"/>
                                      </m:ctrlPr>
                                    </m:sSubPr>
                                    <m:e>
                                      <m:r>
                                        <a:rPr lang="en-US" b="0" smtClean="0"/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smtClean="0"/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b="0" smtClean="0"/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smtClean="0"/>
                                      </m:ctrlPr>
                                    </m:sSubPr>
                                    <m:e>
                                      <m:r>
                                        <a:rPr lang="en-US" b="0" smtClean="0"/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smtClean="0"/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b="0" dirty="0"/>
                            <a:t> 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smtClean="0"/>
                                  </m:ctrlPr>
                                </m:sSubPr>
                                <m:e>
                                  <m:r>
                                    <a:rPr lang="en-US" b="0" smtClean="0"/>
                                    <m:t>𝑛</m:t>
                                  </m:r>
                                </m:e>
                                <m:sub>
                                  <m:r>
                                    <a:rPr lang="en-US" b="0" smtClean="0"/>
                                    <m:t>𝐵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b="0" dirty="0"/>
                            <a:t> is</a:t>
                          </a:r>
                          <a:r>
                            <a:rPr lang="en-US" b="0" baseline="0" dirty="0"/>
                            <a:t> the number of type B discordant pairs</a:t>
                          </a:r>
                        </a:p>
                        <a:p>
                          <a:endParaRPr lang="en-US" b="0" dirty="0"/>
                        </a:p>
                        <a:p>
                          <a:endParaRPr lang="en-US" b="0" dirty="0"/>
                        </a:p>
                        <a:p>
                          <a:endParaRPr lang="en-US" b="0" dirty="0"/>
                        </a:p>
                        <a:p>
                          <a:endParaRPr lang="en-US" b="0" dirty="0"/>
                        </a:p>
                        <a:p>
                          <a:endParaRPr lang="en-US" b="0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400" b="0" dirty="0"/>
                        </a:p>
                        <a:p>
                          <a:endParaRPr lang="en-US" sz="1400" b="0" dirty="0"/>
                        </a:p>
                        <a:p>
                          <a:endParaRPr lang="en-US" sz="1400" b="0" dirty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smtClean="0"/>
                                  <m:t>𝑝</m:t>
                                </m:r>
                                <m:r>
                                  <a:rPr lang="en-US" sz="1400" b="0" smtClean="0"/>
                                  <m:t> = 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1400" b="0" smtClean="0"/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400" b="0" smtClean="0"/>
                                        </m:ctrlPr>
                                      </m:eqArrPr>
                                      <m:e>
                                        <m:r>
                                          <a:rPr lang="en-US" sz="1400" b="0" smtClean="0"/>
                                          <m:t>2 </m:t>
                                        </m:r>
                                        <m:r>
                                          <a:rPr lang="en-US" sz="1400" b="0" smtClean="0"/>
                                          <m:t>×</m:t>
                                        </m:r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sz="1400" b="0" smtClean="0"/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sz="1400" b="0" smtClean="0"/>
                                              <m:t>𝑘</m:t>
                                            </m:r>
                                            <m:r>
                                              <a:rPr lang="en-US" sz="1400" b="0" smtClean="0"/>
                                              <m:t>=0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𝐴</m:t>
                                                </m:r>
                                              </m:sub>
                                            </m:sSub>
                                          </m:sup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400" b="0" smtClean="0"/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type m:val="noBar"/>
                                                    <m:ctrlPr>
                                                      <a:rPr lang="en-US" sz="1400" b="0" smtClean="0"/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sz="1400" b="0" smtClean="0"/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1400" b="0" smtClean="0"/>
                                                          <m:t>𝑛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400" b="0" smtClean="0"/>
                                                          <m:t>𝐷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sz="1400" b="0" smtClean="0"/>
                                                      <m:t>𝑘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  <m:sSup>
                                              <m:sSupPr>
                                                <m:ctrlPr>
                                                  <a:rPr lang="en-US" sz="1400" b="0" smtClean="0"/>
                                                </m:ctrlPr>
                                              </m:sSup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400" b="0" smtClean="0"/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400" b="0" smtClean="0"/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400" b="0" smtClean="0"/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sz="1400" b="0" smtClean="0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400" b="0" smtClean="0"/>
                                                      <m:t>𝑛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400" b="0" smtClean="0"/>
                                                      <m:t>𝐷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</m:sSup>
                                            <m:r>
                                              <a:rPr lang="en-US" sz="1400" b="0" smtClean="0"/>
                                              <m:t> 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 b="0" smtClean="0"/>
                                              <m:t>if</m:t>
                                            </m:r>
                                            <m:r>
                                              <a:rPr lang="en-US" sz="1400" b="0" smtClean="0"/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𝐴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smtClean="0"/>
                                              <m:t>&lt;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𝐷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smtClean="0"/>
                                              <m:t>/2</m:t>
                                            </m:r>
                                          </m:e>
                                        </m:nary>
                                      </m:e>
                                      <m:e>
                                        <m:r>
                                          <a:rPr lang="en-US" sz="1400" b="0" smtClean="0"/>
                                          <m:t>2 ×</m:t>
                                        </m:r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sz="1400" b="0" smtClean="0"/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sz="1400" b="0" smtClean="0"/>
                                              <m:t>𝑘</m:t>
                                            </m:r>
                                            <m:r>
                                              <a:rPr lang="en-US" sz="1400" b="0" smtClean="0"/>
                                              <m:t>=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𝐴</m:t>
                                                </m:r>
                                              </m:sub>
                                            </m:sSub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𝐷</m:t>
                                                </m:r>
                                              </m:sub>
                                            </m:sSub>
                                          </m:sup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400" b="0" smtClean="0"/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type m:val="noBar"/>
                                                    <m:ctrlPr>
                                                      <a:rPr lang="en-US" sz="1400" b="0" smtClean="0"/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sz="1400" b="0" smtClean="0"/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1400" b="0" smtClean="0"/>
                                                          <m:t>𝑛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1400" b="0" smtClean="0"/>
                                                          <m:t>𝐷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sz="1400" b="0" smtClean="0"/>
                                                      <m:t>𝑘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  <m:sSup>
                                              <m:sSupPr>
                                                <m:ctrlPr>
                                                  <a:rPr lang="en-US" sz="1400" b="0" smtClean="0"/>
                                                </m:ctrlPr>
                                              </m:sSup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400" b="0" smtClean="0"/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400" b="0" smtClean="0"/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400" b="0" smtClean="0"/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sz="1400" b="0" smtClean="0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400" b="0" smtClean="0"/>
                                                      <m:t>𝑛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400" b="0" smtClean="0"/>
                                                      <m:t>𝐷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</m:sSup>
                                            <m:r>
                                              <a:rPr lang="en-US" sz="1400" b="0" smtClean="0"/>
                                              <m:t> 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 b="0" smtClean="0"/>
                                              <m:t>if</m:t>
                                            </m:r>
                                            <m:r>
                                              <a:rPr lang="en-US" sz="1400" b="0" smtClean="0"/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𝐴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smtClean="0"/>
                                              <m:t>&gt;</m:t>
                                            </m:r>
                                            <m:r>
                                              <a:rPr lang="en-US" sz="1400" b="0" smtClean="0"/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b="0" smtClean="0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smtClean="0"/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smtClean="0"/>
                                                  <m:t>𝐷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b="0" smtClean="0"/>
                                              <m:t>/2</m:t>
                                            </m:r>
                                          </m:e>
                                        </m:nary>
                                      </m:e>
                                      <m:e>
                                        <m:r>
                                          <a:rPr lang="en-US" sz="1400" b="0" smtClean="0"/>
                                          <m:t>1 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smtClean="0"/>
                                          <m:t>if</m:t>
                                        </m:r>
                                        <m:r>
                                          <a:rPr lang="en-US" sz="1400" b="0" smtClean="0"/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b="0" smtClean="0"/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smtClean="0"/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smtClean="0"/>
                                              <m:t>𝐴</m:t>
                                            </m:r>
                                          </m:sub>
                                        </m:sSub>
                                        <m:r>
                                          <a:rPr lang="en-US" sz="1400" b="0" smtClean="0"/>
                                          <m:t> =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b="0" smtClean="0"/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smtClean="0"/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smtClean="0"/>
                                              <m:t>𝐷</m:t>
                                            </m:r>
                                          </m:sub>
                                        </m:sSub>
                                        <m:r>
                                          <a:rPr lang="en-US" sz="1400" b="0" smtClean="0"/>
                                          <m:t>/2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16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62389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23CF8E3-F294-7EEB-7731-E10CE909E3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266786"/>
                  </p:ext>
                </p:extLst>
              </p:nvPr>
            </p:nvGraphicFramePr>
            <p:xfrm>
              <a:off x="494852" y="1335317"/>
              <a:ext cx="11510682" cy="53982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894">
                      <a:extLst>
                        <a:ext uri="{9D8B030D-6E8A-4147-A177-3AD203B41FA5}">
                          <a16:colId xmlns:a16="http://schemas.microsoft.com/office/drawing/2014/main" val="1159061696"/>
                        </a:ext>
                      </a:extLst>
                    </a:gridCol>
                    <a:gridCol w="4223972">
                      <a:extLst>
                        <a:ext uri="{9D8B030D-6E8A-4147-A177-3AD203B41FA5}">
                          <a16:colId xmlns:a16="http://schemas.microsoft.com/office/drawing/2014/main" val="3778204572"/>
                        </a:ext>
                      </a:extLst>
                    </a:gridCol>
                    <a:gridCol w="3449816">
                      <a:extLst>
                        <a:ext uri="{9D8B030D-6E8A-4147-A177-3AD203B41FA5}">
                          <a16:colId xmlns:a16="http://schemas.microsoft.com/office/drawing/2014/main" val="441063205"/>
                        </a:ext>
                      </a:extLst>
                    </a:gridCol>
                  </a:tblGrid>
                  <a:tr h="36642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Normal Approximation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Exact Test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0154658"/>
                      </a:ext>
                    </a:extLst>
                  </a:tr>
                  <a:tr h="1429893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Hypotheses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3" t="-27434" r="-165" b="-252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627187"/>
                      </a:ext>
                    </a:extLst>
                  </a:tr>
                  <a:tr h="453136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Use 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991" t="-400000" r="-81982" b="-6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824" t="-400000" r="-368" b="-6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665675"/>
                      </a:ext>
                    </a:extLst>
                  </a:tr>
                  <a:tr h="3148838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Test Statistic/ Decision Rule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991" t="-72581" r="-81982" b="-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824" t="-72581" r="-368" b="-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62389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3A2DABF-47B9-34E9-92A5-F534ACC0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264" y="4883972"/>
            <a:ext cx="3373931" cy="178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2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559</Words>
  <Application>Microsoft Macintosh PowerPoint</Application>
  <PresentationFormat>Widescreen</PresentationFormat>
  <Paragraphs>140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Cambria Math</vt:lpstr>
      <vt:lpstr>Office Theme</vt:lpstr>
      <vt:lpstr>2-Sample Categorical Data Fisher’s Exact Test, McNemar’s Test </vt:lpstr>
      <vt:lpstr>PowerPoint Presentation</vt:lpstr>
      <vt:lpstr>Recall from Last Class… </vt:lpstr>
      <vt:lpstr>Fisher’s Exact Test  - Hypergeometric Distribution</vt:lpstr>
      <vt:lpstr>Fisher’s Exact Test  - Hypergeometric Distribution (Rosner’s Version)</vt:lpstr>
      <vt:lpstr>Computing p-Values </vt:lpstr>
      <vt:lpstr>Computing p-Values </vt:lpstr>
      <vt:lpstr>Matched-Pairs Experimental Design</vt:lpstr>
      <vt:lpstr>Matched-Pairs Experimental Design</vt:lpstr>
      <vt:lpstr>McNemar’s 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Cindy Pang</dc:creator>
  <cp:lastModifiedBy>Cindy Pang</cp:lastModifiedBy>
  <cp:revision>2</cp:revision>
  <dcterms:created xsi:type="dcterms:W3CDTF">2025-11-09T23:49:05Z</dcterms:created>
  <dcterms:modified xsi:type="dcterms:W3CDTF">2025-11-16T09:48:01Z</dcterms:modified>
</cp:coreProperties>
</file>