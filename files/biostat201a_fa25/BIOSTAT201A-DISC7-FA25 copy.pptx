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4816B-912E-D8AC-7F20-A81679F55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4BABC-4A3E-4F4E-7E18-27A90ED80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E1C72-8898-9237-3657-7E64C5258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1A614-DE66-EF98-04E5-728B71811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237A1-1CF2-F9D5-2750-DA7C731B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20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6FFC-5627-1B94-66FB-F3CAAEF02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F71EE-4ECD-AC13-EA87-302F0BCC3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35A18-E829-8CBB-0A2B-FE7A87447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D8549-DB78-CC9C-34CD-EC0C0C5FA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77F00-7E04-FC96-7DD1-BB7A9C84D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6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2132-9BF4-812D-052A-D4EA22A57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74676-C36E-D616-B4F7-D3529A45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28E17-44E3-10BA-B71E-999A9369A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6ACF-B8F0-1DE3-C30D-EE417E7F9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1C913-557F-BB78-4729-D02267D91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AFCC6-C358-E7AF-7556-46E48F6B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7EA61-96E6-5B3F-7C59-FBE59C400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F8D77-56B2-6811-6D05-73B98CF5F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260A0-2331-2153-9C50-EF9402B37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50B83-D32C-BCF3-ED24-ACE4A34F7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37556-869B-6C92-0B6C-03B33A12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11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315DD-32CE-F2AA-229A-6E132B71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6541F-F733-821E-1F7D-1F3F95C7C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37992-A666-2573-6BA1-4064C5757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4B6661-2F73-3DD1-5BBD-B50428154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F667DC-68DC-672A-6376-79B9447DC4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2D1920-88D5-FC25-8229-3B64A070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0F492-9AE3-BB0A-F671-6D5E291B1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3FC389-20A8-9453-1F1B-0A3875A3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60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DB6E-F570-7C18-A8F5-BB3C41D6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1ACC1-6078-CCA8-70D8-059C1988B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F2FEF-F444-96A3-608E-F5D0449C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1B8DEA-4DBD-D103-C3F9-EF39ED50D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8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5EED9D-A7E6-076D-E087-9A2207EF8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37366-BFFD-B5AA-DA26-86B49FBC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92BA7-A33F-FBDB-C199-E6679D68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7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4AB4-408E-3391-6F79-6F538F9F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04BE4-A6CB-D103-B7A7-B299455A3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36E29-13ED-4E52-D6B6-AEFC305BE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6A688-7BE3-C67C-DAED-B952DE6EF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AB58D-B3BA-DD77-CC03-D243C36E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66BA9-00DD-DB1F-14D0-B1E9A6A6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2241-A3A8-F123-B3C1-CEBF751F0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E18A16-8746-FEE7-D47D-6A9D3315D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B530F-CBB9-5684-150E-D34A9FECD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DDBE5-0CDA-2FBE-7778-D330F4A9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B1CCD-58B7-AD48-80E7-A9C941F9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55BBE-07F1-EF67-D288-DF9F2FC45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8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FC6B4-498E-6464-FC3D-611D3F4E4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6B7F8-0D6E-ED2E-CD61-491CFD475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0D80F-A31D-F55A-CC52-5C0056A77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732E6-3034-A826-EA42-60F7D81F0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F7E58-D925-45B4-CF7C-7B3C2FDA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80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80AE31-E387-DB84-4A31-856AD4ACC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11482-79F8-0C93-AF7C-7A3DF1D53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A295F-762C-F99D-F225-2E5D2DC8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77BF-A741-3645-98AE-0C4E281241C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B0CC1-0623-167D-DB5D-1309FEC4D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FACF6-E670-7352-CAA4-B3892F964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8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4BE899-CC9C-2B74-BF76-F91106B9E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76E7E-FC25-1D73-6CFC-6C84C9713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D629C-E1AD-D902-8461-6C1BA7AF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F77BF-A741-3645-98AE-0C4E281241C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BDC1B-C472-62E3-4694-8F1FE416A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6F698-85BD-3683-EF65-C90E9A923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28024-3455-FD4F-AD54-7A144BDC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4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48350-CEAD-1DDF-3603-BBFB3E239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2-Sample Categorical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9DC41-C244-E02B-24AC-830ED10668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BIOSTAT 201A Fall 2025</a:t>
            </a: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Discussion 7 – November 14, 2025</a:t>
            </a: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Cindy J. Pang</a:t>
            </a:r>
          </a:p>
        </p:txBody>
      </p:sp>
    </p:spTree>
    <p:extLst>
      <p:ext uri="{BB962C8B-B14F-4D97-AF65-F5344CB8AC3E}">
        <p14:creationId xmlns:p14="http://schemas.microsoft.com/office/powerpoint/2010/main" val="400233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B03356-FF1D-852C-CC6B-5621DC69F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319994"/>
              </p:ext>
            </p:extLst>
          </p:nvPr>
        </p:nvGraphicFramePr>
        <p:xfrm>
          <a:off x="0" y="3"/>
          <a:ext cx="12192000" cy="694305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43740">
                  <a:extLst>
                    <a:ext uri="{9D8B030D-6E8A-4147-A177-3AD203B41FA5}">
                      <a16:colId xmlns:a16="http://schemas.microsoft.com/office/drawing/2014/main" val="3949482821"/>
                    </a:ext>
                  </a:extLst>
                </a:gridCol>
                <a:gridCol w="4380613">
                  <a:extLst>
                    <a:ext uri="{9D8B030D-6E8A-4147-A177-3AD203B41FA5}">
                      <a16:colId xmlns:a16="http://schemas.microsoft.com/office/drawing/2014/main" val="877637155"/>
                    </a:ext>
                  </a:extLst>
                </a:gridCol>
                <a:gridCol w="6067647">
                  <a:extLst>
                    <a:ext uri="{9D8B030D-6E8A-4147-A177-3AD203B41FA5}">
                      <a16:colId xmlns:a16="http://schemas.microsoft.com/office/drawing/2014/main" val="416651982"/>
                    </a:ext>
                  </a:extLst>
                </a:gridCol>
              </a:tblGrid>
              <a:tr h="645926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Contingency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Two Sample Test for Difference in Population Proportions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Pearson’s Chi-Square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914232"/>
                  </a:ext>
                </a:extLst>
              </a:tr>
              <a:tr h="645926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Hypotheses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46628079"/>
                  </a:ext>
                </a:extLst>
              </a:tr>
              <a:tr h="922751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Assumptions</a:t>
                      </a:r>
                    </a:p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601306"/>
                  </a:ext>
                </a:extLst>
              </a:tr>
              <a:tr h="2030052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Data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953877"/>
                  </a:ext>
                </a:extLst>
              </a:tr>
              <a:tr h="1222000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Test Statistic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1605345"/>
                  </a:ext>
                </a:extLst>
              </a:tr>
              <a:tr h="1476402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Decision Rule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556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092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46F6ADC0-4369-E1AD-93F3-CDBEAF62A0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087" y="132304"/>
            <a:ext cx="1186582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hypothesis suggests that breast cancer risk increases with a longer interval between the onset of menstruation and a woman’s first childbirth, making age at first birth a potential risk factor. To test this, an international study examined women from hospitals in the United States, Greece, Yugoslavia, Brazil, Taiwan, and Japan. Among women who had given birth, 21.2% of those with breast cancer (683 of 3,220) and 14.6% of those without breast cancer (1,498 of 10,245) had their first child at age 30 or older. The question is whether this difference reflects a true association or simply occurred by chance.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(a) Test this hypothesis using a 2-Sample Test for Difference in Population Proportions </a:t>
            </a:r>
          </a:p>
        </p:txBody>
      </p:sp>
    </p:spTree>
    <p:extLst>
      <p:ext uri="{BB962C8B-B14F-4D97-AF65-F5344CB8AC3E}">
        <p14:creationId xmlns:p14="http://schemas.microsoft.com/office/powerpoint/2010/main" val="2908419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6FE41-4974-6845-47A5-CE279F3B2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CCEA3CAE-6F2F-3029-C039-F4B2D4F24C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087" y="132304"/>
            <a:ext cx="1186582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hypothesis suggests that breast cancer risk increases with a longer interval between the onset of menstruation and a woman’s first childbirth, making age at first birth a potential risk factor. To test this, an international study examined women from hospitals in the United States, Greece, Yugoslavia, Brazil, Taiwan, and Japan. Among women who had given birth, 21.2% of those with breast cancer (683 of 3,220) and 14.6% of those without breast cancer (1,498 of 10,245) had their first child at age 30 or older. The question is whether this difference reflects a true association or simply occurred by chance.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(b) Test this hypothesis using a Pearson’s Chi-square Test. </a:t>
            </a:r>
            <a:r>
              <a:rPr lang="en-US" altLang="en-US" sz="1800" i="1" dirty="0">
                <a:solidFill>
                  <a:srgbClr val="000000"/>
                </a:solidFill>
                <a:latin typeface="Arial" panose="020B0604020202020204" pitchFamily="34" charset="0"/>
              </a:rPr>
              <a:t>Are your conclusions different from part a?</a:t>
            </a:r>
          </a:p>
        </p:txBody>
      </p:sp>
    </p:spTree>
    <p:extLst>
      <p:ext uri="{BB962C8B-B14F-4D97-AF65-F5344CB8AC3E}">
        <p14:creationId xmlns:p14="http://schemas.microsoft.com/office/powerpoint/2010/main" val="1956752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309</Words>
  <Application>Microsoft Macintosh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 Light</vt:lpstr>
      <vt:lpstr>Office Theme</vt:lpstr>
      <vt:lpstr>2-Sample Categorical Data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Cindy Pang</dc:creator>
  <cp:lastModifiedBy>Cindy Pang</cp:lastModifiedBy>
  <cp:revision>1</cp:revision>
  <dcterms:created xsi:type="dcterms:W3CDTF">2025-11-09T23:49:05Z</dcterms:created>
  <dcterms:modified xsi:type="dcterms:W3CDTF">2025-11-10T00:23:11Z</dcterms:modified>
</cp:coreProperties>
</file>