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1" r:id="rId3"/>
    <p:sldId id="258" r:id="rId4"/>
    <p:sldId id="262" r:id="rId5"/>
    <p:sldId id="264" r:id="rId6"/>
    <p:sldId id="259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0A98114-ADCB-264F-A49E-203FD38B8962}">
          <p14:sldIdLst>
            <p14:sldId id="257"/>
            <p14:sldId id="261"/>
            <p14:sldId id="258"/>
            <p14:sldId id="262"/>
            <p14:sldId id="264"/>
            <p14:sldId id="259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58"/>
  </p:normalViewPr>
  <p:slideViewPr>
    <p:cSldViewPr snapToGrid="0">
      <p:cViewPr varScale="1">
        <p:scale>
          <a:sx n="105" d="100"/>
          <a:sy n="105" d="100"/>
        </p:scale>
        <p:origin x="216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FEAD-CD30-130D-A4D7-5C6C1D0ABC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220648-742C-312E-E168-6AA0F88A41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29278-D1AD-813C-7100-6CC76D216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74F7A-E62F-4913-8F1A-EBA8C02FA340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EAF1D-EA5D-D8AD-97C6-54C48D5BC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D255D-9820-7DC3-A544-06D72115C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7971-67F7-4BC3-ACE0-5D783E8F3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89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D3151-0BE3-35D6-2FB2-984656812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9EF86-A9DD-3800-C7F9-70AFA51A7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DC63E-081F-8646-5328-C20C93417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74F7A-E62F-4913-8F1A-EBA8C02FA340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D5F8E-BFDC-5347-AFD2-091BAD93B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BB073-1D9E-EB05-79D2-8418D2A8C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7971-67F7-4BC3-ACE0-5D783E8F3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095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A6385-EE15-B755-77F0-C42E3BBF7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D7E1E-219D-D892-A413-F8EF4CC6F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1C269-AEDB-CE83-A835-59C093198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74F7A-E62F-4913-8F1A-EBA8C02FA340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F5DBA-2B69-0ABF-5317-E53D47595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9738B-4B46-C3D9-039D-417404F50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7971-67F7-4BC3-ACE0-5D783E8F3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225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69D2E-A290-A74C-EC90-C9D95F4A9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E8DCC-ADE6-9782-E667-73C6C84D4B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FACA20-5FB0-BF19-68CF-85885F8B95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F53529-1D39-0753-31F8-519768D7E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74F7A-E62F-4913-8F1A-EBA8C02FA340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9C9C6-D4B3-AF1B-516F-F76EA4497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895AC9-0305-F109-29D2-1F9513F6A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7971-67F7-4BC3-ACE0-5D783E8F3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590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FE5D6-FA9A-65E7-FC93-75C1C5DBC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8DC36-DABA-E0F2-4FE3-C6E948243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2C5D7F-3184-AC1E-5612-E134701CB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3FF2F4-E17A-A41F-5059-F37CDA9BA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AC510E-B3C2-C2FE-51EF-F01BC70B28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29DD3B-5555-6021-E34C-F97653537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74F7A-E62F-4913-8F1A-EBA8C02FA340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5F83A4-FEAA-EAB3-2B56-6B3B23B44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80B9F7-91D3-D4B8-DA48-C9DDFEBB0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7971-67F7-4BC3-ACE0-5D783E8F3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903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30BFE-10AD-A5F8-4AD4-C62DD2167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6BAE60-0D4B-F540-C907-A2FC614BB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74F7A-E62F-4913-8F1A-EBA8C02FA340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66A3EE-B320-E5F5-4078-CFD252E0F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1D0707-5A88-7461-84B2-7CF490DE7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7971-67F7-4BC3-ACE0-5D783E8F3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963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2D7951-D217-712A-117C-12478B633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74F7A-E62F-4913-8F1A-EBA8C02FA340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1ECD8A-2046-9E86-C4DA-24B1F3BBD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5F00F-88AE-A8CF-E084-3A5490051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7971-67F7-4BC3-ACE0-5D783E8F3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93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0DE82-AB4F-A5B2-7918-086065E41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BC464-591C-325B-7F2C-8320AC860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A1DE8F-175D-9812-9155-226D6FF7B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5F8A9-60C8-4C11-2360-143E7DD75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74F7A-E62F-4913-8F1A-EBA8C02FA340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0524B-4E8D-1B94-0594-C18A08666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486F3E-51B7-2AC0-4C9B-6D288A9B2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7971-67F7-4BC3-ACE0-5D783E8F3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347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07616-714B-C58D-F2CB-D3AC07661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4D282F-FF8F-7B84-37CC-8CF7E645E9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BBF20-95ED-1F18-6391-31530F6AD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7029C-9EB3-EA2D-03DD-D7719567B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74F7A-E62F-4913-8F1A-EBA8C02FA340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B0893-0B92-1664-8A22-8E96D53DE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3E348-0363-E451-0E1D-D231D3F93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7971-67F7-4BC3-ACE0-5D783E8F3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621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BDADA-0802-5DE9-6D5F-AE0456AF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F6E5A1-A3A6-3873-7FF6-92836D66A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88ECB-2BCF-B307-F4EE-E0BC66F8E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74F7A-E62F-4913-8F1A-EBA8C02FA340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C41E0-AA88-BEB8-7A6B-3D275B31C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A36BD-A850-5DC6-AF6E-46B1CC882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7971-67F7-4BC3-ACE0-5D783E8F3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020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582668-FBAA-3FCD-7067-6463179444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F69845-B521-DB20-11F1-F2846D16C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44B89-9C5B-E46F-F53C-D1055AEF5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74F7A-E62F-4913-8F1A-EBA8C02FA340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B191E-6246-13FC-6B33-29AD17540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665AF-84A3-70D1-A775-32666D69C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7971-67F7-4BC3-ACE0-5D783E8F3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856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F6641A-DA1F-A625-FAE4-21F9FDB5B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63C6E-7282-18EB-7EDE-81A6316E8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263FD-76A8-D4AC-CB72-E9E5C3CFF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74F7A-E62F-4913-8F1A-EBA8C02FA340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67E0B-D694-1F29-EF3E-AF02DFABE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61E02-31E7-E0A5-48A9-0199974D03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B7971-67F7-4BC3-ACE0-5D783E8F3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751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D662C-06F8-64AD-A12B-6AEFBBAD14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Two-Sample Inference</a:t>
            </a:r>
            <a:br>
              <a:rPr lang="en-US" dirty="0"/>
            </a:br>
            <a:r>
              <a:rPr lang="en-US" dirty="0"/>
              <a:t>(Lectures 8-10)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EBFBB-2069-218D-CAF6-9B75A7933A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BIOSTAT 201A Fall 2025</a:t>
            </a:r>
          </a:p>
          <a:p>
            <a:r>
              <a:rPr lang="en-US" dirty="0">
                <a:latin typeface="+mj-lt"/>
              </a:rPr>
              <a:t>Discussion 5 – October 31, 2025</a:t>
            </a:r>
          </a:p>
          <a:p>
            <a:r>
              <a:rPr lang="en-US" dirty="0">
                <a:latin typeface="+mj-lt"/>
              </a:rPr>
              <a:t>Cindy J. Pang</a:t>
            </a:r>
          </a:p>
        </p:txBody>
      </p:sp>
    </p:spTree>
    <p:extLst>
      <p:ext uri="{BB962C8B-B14F-4D97-AF65-F5344CB8AC3E}">
        <p14:creationId xmlns:p14="http://schemas.microsoft.com/office/powerpoint/2010/main" val="3907290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02C97-F975-4B45-2BE3-E2649CBA7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82CF7-5CB4-360B-E2E2-3AE52275C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Motivation for Two Sample Inference Problems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Two Sample Inference for Paired Data (Lecture 8)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Two Sample Inference for Independent Samples (Lecture 9 &amp; 10)</a:t>
            </a:r>
          </a:p>
        </p:txBody>
      </p:sp>
    </p:spTree>
    <p:extLst>
      <p:ext uri="{BB962C8B-B14F-4D97-AF65-F5344CB8AC3E}">
        <p14:creationId xmlns:p14="http://schemas.microsoft.com/office/powerpoint/2010/main" val="2348118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16E38-4681-E221-466D-2DE627F5E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Sample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D0C63-A7AA-6DE8-B9B3-C5A8AA723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228"/>
            <a:ext cx="10515600" cy="5262465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Goal of Two Sample Problems: </a:t>
            </a:r>
          </a:p>
          <a:p>
            <a:pPr lvl="1"/>
            <a:r>
              <a:rPr lang="en-US" dirty="0">
                <a:latin typeface="+mj-lt"/>
              </a:rPr>
              <a:t>(1) </a:t>
            </a:r>
          </a:p>
          <a:p>
            <a:pPr lvl="1"/>
            <a:r>
              <a:rPr lang="en-US" dirty="0">
                <a:latin typeface="+mj-lt"/>
              </a:rPr>
              <a:t>(2) </a:t>
            </a:r>
          </a:p>
          <a:p>
            <a:r>
              <a:rPr lang="en-US" dirty="0">
                <a:latin typeface="+mj-lt"/>
              </a:rPr>
              <a:t>Types</a:t>
            </a:r>
          </a:p>
          <a:p>
            <a:pPr lvl="1"/>
            <a:r>
              <a:rPr lang="en-US" dirty="0">
                <a:latin typeface="+mj-lt"/>
              </a:rPr>
              <a:t>1. </a:t>
            </a:r>
          </a:p>
          <a:p>
            <a:pPr lvl="1"/>
            <a:r>
              <a:rPr lang="en-US" dirty="0">
                <a:latin typeface="+mj-lt"/>
              </a:rPr>
              <a:t>2. </a:t>
            </a:r>
          </a:p>
          <a:p>
            <a:pPr lvl="2"/>
            <a:r>
              <a:rPr lang="en-US" dirty="0">
                <a:latin typeface="+mj-lt"/>
              </a:rPr>
              <a:t>Unpaired is more likely to reject but why should we still use a paired test? </a:t>
            </a:r>
          </a:p>
          <a:p>
            <a:pPr marL="914400" lvl="2" indent="0">
              <a:buNone/>
            </a:pPr>
            <a:endParaRPr lang="en-US" dirty="0">
              <a:latin typeface="+mj-lt"/>
            </a:endParaRPr>
          </a:p>
          <a:p>
            <a:pPr marL="914400" lvl="2" indent="0">
              <a:buNone/>
            </a:pPr>
            <a:endParaRPr lang="en-US" dirty="0">
              <a:latin typeface="+mj-lt"/>
            </a:endParaRPr>
          </a:p>
          <a:p>
            <a:pPr lvl="2"/>
            <a:r>
              <a:rPr lang="en-US" dirty="0">
                <a:latin typeface="+mj-lt"/>
              </a:rPr>
              <a:t>Situations where we do matched-pairs in clinical research: </a:t>
            </a:r>
          </a:p>
          <a:p>
            <a:pPr lvl="3"/>
            <a:r>
              <a:rPr lang="en-US" dirty="0">
                <a:latin typeface="+mj-lt"/>
              </a:rPr>
              <a:t>1. </a:t>
            </a:r>
          </a:p>
          <a:p>
            <a:pPr lvl="3"/>
            <a:endParaRPr lang="en-US" dirty="0">
              <a:latin typeface="+mj-lt"/>
            </a:endParaRPr>
          </a:p>
          <a:p>
            <a:pPr lvl="3"/>
            <a:r>
              <a:rPr lang="en-US" dirty="0">
                <a:latin typeface="+mj-lt"/>
              </a:rPr>
              <a:t>2. </a:t>
            </a:r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574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05DED-0D1C-0F94-940C-4C256F78F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E5BE6A-2F95-9137-FE24-2141822D93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9396047"/>
              </p:ext>
            </p:extLst>
          </p:nvPr>
        </p:nvGraphicFramePr>
        <p:xfrm>
          <a:off x="106323" y="116959"/>
          <a:ext cx="11950998" cy="66647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63842">
                  <a:extLst>
                    <a:ext uri="{9D8B030D-6E8A-4147-A177-3AD203B41FA5}">
                      <a16:colId xmlns:a16="http://schemas.microsoft.com/office/drawing/2014/main" val="2253860283"/>
                    </a:ext>
                  </a:extLst>
                </a:gridCol>
                <a:gridCol w="8487156">
                  <a:extLst>
                    <a:ext uri="{9D8B030D-6E8A-4147-A177-3AD203B41FA5}">
                      <a16:colId xmlns:a16="http://schemas.microsoft.com/office/drawing/2014/main" val="3180405690"/>
                    </a:ext>
                  </a:extLst>
                </a:gridCol>
              </a:tblGrid>
              <a:tr h="552879">
                <a:tc>
                  <a:txBody>
                    <a:bodyPr/>
                    <a:lstStyle/>
                    <a:p>
                      <a:r>
                        <a:rPr lang="en-US" sz="1400" dirty="0"/>
                        <a:t>Two-Sample Problems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Dependent Groups (Paired Data)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1023035"/>
                  </a:ext>
                </a:extLst>
              </a:tr>
              <a:tr h="912169">
                <a:tc>
                  <a:txBody>
                    <a:bodyPr/>
                    <a:lstStyle/>
                    <a:p>
                      <a:r>
                        <a:rPr lang="en-US" sz="1400" dirty="0"/>
                        <a:t>Hypotheses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891602"/>
                  </a:ext>
                </a:extLst>
              </a:tr>
              <a:tr h="1330925">
                <a:tc>
                  <a:txBody>
                    <a:bodyPr/>
                    <a:lstStyle/>
                    <a:p>
                      <a:r>
                        <a:rPr lang="en-US" sz="1400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240621"/>
                  </a:ext>
                </a:extLst>
              </a:tr>
              <a:tr h="937582">
                <a:tc>
                  <a:txBody>
                    <a:bodyPr/>
                    <a:lstStyle/>
                    <a:p>
                      <a:r>
                        <a:rPr lang="en-US" sz="1400" dirty="0"/>
                        <a:t>Assumptions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530573"/>
                  </a:ext>
                </a:extLst>
              </a:tr>
              <a:tr h="937582">
                <a:tc>
                  <a:txBody>
                    <a:bodyPr/>
                    <a:lstStyle/>
                    <a:p>
                      <a:r>
                        <a:rPr lang="en-US" sz="1400" dirty="0"/>
                        <a:t>Test Statistic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114829"/>
                  </a:ext>
                </a:extLst>
              </a:tr>
              <a:tr h="1015364">
                <a:tc>
                  <a:txBody>
                    <a:bodyPr/>
                    <a:lstStyle/>
                    <a:p>
                      <a:r>
                        <a:rPr lang="en-US" sz="1400" dirty="0"/>
                        <a:t>Decision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1409223"/>
                  </a:ext>
                </a:extLst>
              </a:tr>
              <a:tr h="937582">
                <a:tc>
                  <a:txBody>
                    <a:bodyPr/>
                    <a:lstStyle/>
                    <a:p>
                      <a:r>
                        <a:rPr lang="en-US" sz="1400" dirty="0"/>
                        <a:t>Confidence 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057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419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6CF7E-97A3-C4EA-5F59-35EF290F3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E0BF5-6084-C62A-C9BB-1ED2A904F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4865" y="244549"/>
            <a:ext cx="5901070" cy="624832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5281F7-8909-71A3-3582-2371C34C0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80" y="1563878"/>
            <a:ext cx="2946400" cy="3949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7453FD-D928-DD88-0BFA-4B7E40CD7DF4}"/>
              </a:ext>
            </a:extLst>
          </p:cNvPr>
          <p:cNvSpPr txBox="1"/>
          <p:nvPr/>
        </p:nvSpPr>
        <p:spPr>
          <a:xfrm>
            <a:off x="4669536" y="244548"/>
            <a:ext cx="737616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j-lt"/>
              </a:rPr>
              <a:t>Renal Disease. </a:t>
            </a:r>
            <a:r>
              <a:rPr lang="en-US" dirty="0">
                <a:latin typeface="+mj-lt"/>
              </a:rPr>
              <a:t>We are interested to see if the raw scale of urinary protein changes after 8 weeks. </a:t>
            </a:r>
          </a:p>
          <a:p>
            <a:endParaRPr lang="en-US" b="1" dirty="0">
              <a:latin typeface="+mj-lt"/>
            </a:endParaRPr>
          </a:p>
          <a:p>
            <a:pPr marL="342900" indent="-342900">
              <a:buAutoNum type="alphaLcParenBoth"/>
            </a:pPr>
            <a:r>
              <a:rPr lang="en-US" dirty="0">
                <a:latin typeface="+mj-lt"/>
              </a:rPr>
              <a:t>Identify the appropriate statistical procedure to do this. Explain.</a:t>
            </a:r>
          </a:p>
          <a:p>
            <a:pPr marL="342900" indent="-342900">
              <a:buAutoNum type="alphaLcParenBoth"/>
            </a:pPr>
            <a:endParaRPr lang="en-US" dirty="0">
              <a:latin typeface="+mj-lt"/>
            </a:endParaRPr>
          </a:p>
          <a:p>
            <a:pPr marL="342900" indent="-342900">
              <a:buAutoNum type="alphaLcParenBoth"/>
            </a:pPr>
            <a:endParaRPr lang="en-US" dirty="0">
              <a:latin typeface="+mj-lt"/>
            </a:endParaRPr>
          </a:p>
          <a:p>
            <a:pPr marL="342900" indent="-342900">
              <a:buAutoNum type="alphaLcParenBoth"/>
            </a:pPr>
            <a:r>
              <a:rPr lang="en-US" dirty="0">
                <a:latin typeface="+mj-lt"/>
              </a:rPr>
              <a:t>Did urinary protein change after 8 weeks? Use a hypothesis test to determine this. </a:t>
            </a:r>
          </a:p>
          <a:p>
            <a:pPr marL="342900" indent="-342900">
              <a:buAutoNum type="alphaLcParenBoth"/>
            </a:pPr>
            <a:endParaRPr lang="en-US" dirty="0">
              <a:latin typeface="+mj-lt"/>
            </a:endParaRPr>
          </a:p>
          <a:p>
            <a:pPr marL="342900" indent="-342900">
              <a:buAutoNum type="alphaLcParenBoth"/>
            </a:pPr>
            <a:endParaRPr lang="en-US" dirty="0">
              <a:latin typeface="+mj-lt"/>
            </a:endParaRPr>
          </a:p>
          <a:p>
            <a:pPr marL="342900" indent="-342900">
              <a:buAutoNum type="alphaLcParenBoth"/>
            </a:pPr>
            <a:endParaRPr lang="en-US" dirty="0">
              <a:latin typeface="+mj-lt"/>
            </a:endParaRPr>
          </a:p>
          <a:p>
            <a:pPr marL="342900" indent="-342900">
              <a:buAutoNum type="alphaLcParenBoth"/>
            </a:pPr>
            <a:endParaRPr lang="en-US" dirty="0">
              <a:latin typeface="+mj-lt"/>
            </a:endParaRPr>
          </a:p>
          <a:p>
            <a:pPr marL="342900" indent="-342900">
              <a:buAutoNum type="alphaLcParenBoth"/>
            </a:pPr>
            <a:endParaRPr lang="en-US" dirty="0">
              <a:latin typeface="+mj-lt"/>
            </a:endParaRPr>
          </a:p>
          <a:p>
            <a:pPr marL="342900" indent="-342900">
              <a:buAutoNum type="alphaLcParenBoth"/>
            </a:pPr>
            <a:endParaRPr lang="en-US" dirty="0">
              <a:latin typeface="+mj-lt"/>
            </a:endParaRPr>
          </a:p>
          <a:p>
            <a:pPr marL="342900" indent="-342900">
              <a:buAutoNum type="alphaLcParenBoth"/>
            </a:pPr>
            <a:endParaRPr lang="en-US" dirty="0">
              <a:latin typeface="+mj-lt"/>
            </a:endParaRPr>
          </a:p>
          <a:p>
            <a:pPr marL="342900" indent="-342900">
              <a:buAutoNum type="alphaLcParenBoth"/>
            </a:pPr>
            <a:endParaRPr lang="en-US" dirty="0">
              <a:latin typeface="+mj-lt"/>
            </a:endParaRPr>
          </a:p>
          <a:p>
            <a:pPr marL="342900" indent="-342900">
              <a:buAutoNum type="alphaLcParenBoth"/>
            </a:pPr>
            <a:endParaRPr lang="en-US" dirty="0">
              <a:latin typeface="+mj-lt"/>
            </a:endParaRPr>
          </a:p>
          <a:p>
            <a:pPr marL="342900" indent="-342900">
              <a:buAutoNum type="alphaLcParenBoth"/>
            </a:pPr>
            <a:endParaRPr lang="en-US" dirty="0">
              <a:latin typeface="+mj-lt"/>
            </a:endParaRPr>
          </a:p>
          <a:p>
            <a:pPr marL="342900" indent="-342900">
              <a:buAutoNum type="alphaLcParenBoth"/>
            </a:pPr>
            <a:r>
              <a:rPr lang="en-US" dirty="0">
                <a:latin typeface="+mj-lt"/>
              </a:rPr>
              <a:t>Compute a 95% confidence interval for the differences in urinary protein change. How does your created confidence interval support your conclusions in part (b)?</a:t>
            </a:r>
          </a:p>
        </p:txBody>
      </p:sp>
    </p:spTree>
    <p:extLst>
      <p:ext uri="{BB962C8B-B14F-4D97-AF65-F5344CB8AC3E}">
        <p14:creationId xmlns:p14="http://schemas.microsoft.com/office/powerpoint/2010/main" val="2319202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642E83-E3CA-AD51-3AAE-492EDDA3B2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3072711"/>
              </p:ext>
            </p:extLst>
          </p:nvPr>
        </p:nvGraphicFramePr>
        <p:xfrm>
          <a:off x="106325" y="116959"/>
          <a:ext cx="11791506" cy="66666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47876">
                  <a:extLst>
                    <a:ext uri="{9D8B030D-6E8A-4147-A177-3AD203B41FA5}">
                      <a16:colId xmlns:a16="http://schemas.microsoft.com/office/drawing/2014/main" val="2253860283"/>
                    </a:ext>
                  </a:extLst>
                </a:gridCol>
                <a:gridCol w="2947876">
                  <a:extLst>
                    <a:ext uri="{9D8B030D-6E8A-4147-A177-3AD203B41FA5}">
                      <a16:colId xmlns:a16="http://schemas.microsoft.com/office/drawing/2014/main" val="3180405690"/>
                    </a:ext>
                  </a:extLst>
                </a:gridCol>
                <a:gridCol w="2947878">
                  <a:extLst>
                    <a:ext uri="{9D8B030D-6E8A-4147-A177-3AD203B41FA5}">
                      <a16:colId xmlns:a16="http://schemas.microsoft.com/office/drawing/2014/main" val="3425346834"/>
                    </a:ext>
                  </a:extLst>
                </a:gridCol>
                <a:gridCol w="2947876">
                  <a:extLst>
                    <a:ext uri="{9D8B030D-6E8A-4147-A177-3AD203B41FA5}">
                      <a16:colId xmlns:a16="http://schemas.microsoft.com/office/drawing/2014/main" val="2772877197"/>
                    </a:ext>
                  </a:extLst>
                </a:gridCol>
              </a:tblGrid>
              <a:tr h="604596">
                <a:tc>
                  <a:txBody>
                    <a:bodyPr/>
                    <a:lstStyle/>
                    <a:p>
                      <a:r>
                        <a:rPr lang="en-US" sz="1400" dirty="0"/>
                        <a:t>Two-Sample Problems 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Independent Groups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023035"/>
                  </a:ext>
                </a:extLst>
              </a:tr>
              <a:tr h="347855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Equal Variances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Unequal Variances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 Test for Equality of Variances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519071"/>
                  </a:ext>
                </a:extLst>
              </a:tr>
              <a:tr h="787523">
                <a:tc>
                  <a:txBody>
                    <a:bodyPr/>
                    <a:lstStyle/>
                    <a:p>
                      <a:r>
                        <a:rPr lang="en-US" sz="1400" dirty="0"/>
                        <a:t>Hypotheses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891602"/>
                  </a:ext>
                </a:extLst>
              </a:tr>
              <a:tr h="740447">
                <a:tc>
                  <a:txBody>
                    <a:bodyPr/>
                    <a:lstStyle/>
                    <a:p>
                      <a:r>
                        <a:rPr lang="en-US" sz="1400" dirty="0"/>
                        <a:t>Data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240621"/>
                  </a:ext>
                </a:extLst>
              </a:tr>
              <a:tr h="1025284">
                <a:tc>
                  <a:txBody>
                    <a:bodyPr/>
                    <a:lstStyle/>
                    <a:p>
                      <a:r>
                        <a:rPr lang="en-US" sz="1400" dirty="0"/>
                        <a:t>Assumptions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530573"/>
                  </a:ext>
                </a:extLst>
              </a:tr>
              <a:tr h="1025284">
                <a:tc>
                  <a:txBody>
                    <a:bodyPr/>
                    <a:lstStyle/>
                    <a:p>
                      <a:r>
                        <a:rPr lang="en-US" sz="1400" dirty="0"/>
                        <a:t>Test Statistic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114829"/>
                  </a:ext>
                </a:extLst>
              </a:tr>
              <a:tr h="1110342">
                <a:tc>
                  <a:txBody>
                    <a:bodyPr/>
                    <a:lstStyle/>
                    <a:p>
                      <a:r>
                        <a:rPr lang="en-US" sz="1400" dirty="0"/>
                        <a:t>Decision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1409223"/>
                  </a:ext>
                </a:extLst>
              </a:tr>
              <a:tr h="1025284">
                <a:tc>
                  <a:txBody>
                    <a:bodyPr/>
                    <a:lstStyle/>
                    <a:p>
                      <a:r>
                        <a:rPr lang="en-US" sz="1400" dirty="0"/>
                        <a:t>Confidence 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057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940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020D3-CD43-CBD7-5AF2-C536E32A6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753" y="244549"/>
            <a:ext cx="11685182" cy="62483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+mj-lt"/>
              </a:rPr>
              <a:t>Nutrition. </a:t>
            </a:r>
            <a:r>
              <a:rPr lang="en-US" sz="1800" dirty="0">
                <a:latin typeface="+mj-lt"/>
              </a:rPr>
              <a:t>The mean ±1 </a:t>
            </a:r>
            <a:r>
              <a:rPr lang="en-US" sz="1800" dirty="0" err="1">
                <a:latin typeface="+mj-lt"/>
              </a:rPr>
              <a:t>sd</a:t>
            </a:r>
            <a:r>
              <a:rPr lang="en-US" sz="1800" dirty="0">
                <a:latin typeface="+mj-lt"/>
              </a:rPr>
              <a:t> of ln [calcium intake (mg)] among 25 females, 12 to 14 years of age, below the poverty level is 6.56 ± 0.64. Similarly, the mean ± 1 </a:t>
            </a:r>
            <a:r>
              <a:rPr lang="en-US" sz="1800" dirty="0" err="1">
                <a:latin typeface="+mj-lt"/>
              </a:rPr>
              <a:t>sd</a:t>
            </a:r>
            <a:r>
              <a:rPr lang="en-US" sz="1800" dirty="0">
                <a:latin typeface="+mj-lt"/>
              </a:rPr>
              <a:t> of ln [calcium intake (mg)] among 40 females, 12 to 14 years of age, above the poverty level is 6.80 ± 0.76.</a:t>
            </a:r>
          </a:p>
          <a:p>
            <a:pPr marL="342900" indent="-342900">
              <a:buAutoNum type="alphaLcParenBoth"/>
            </a:pPr>
            <a:r>
              <a:rPr lang="en-US" sz="1800" dirty="0">
                <a:latin typeface="+mj-lt"/>
              </a:rPr>
              <a:t>Test for a significant difference between the variances of the two groups.</a:t>
            </a:r>
          </a:p>
          <a:p>
            <a:pPr marL="342900" indent="-342900">
              <a:buAutoNum type="alphaLcParenBoth"/>
            </a:pPr>
            <a:endParaRPr lang="en-US" sz="1800" dirty="0">
              <a:latin typeface="+mj-lt"/>
            </a:endParaRPr>
          </a:p>
          <a:p>
            <a:pPr marL="342900" indent="-342900">
              <a:buAutoNum type="alphaLcParenBoth"/>
            </a:pPr>
            <a:endParaRPr lang="en-US" sz="1800" dirty="0">
              <a:latin typeface="+mj-lt"/>
            </a:endParaRPr>
          </a:p>
          <a:p>
            <a:pPr marL="342900" indent="-342900">
              <a:buAutoNum type="alphaLcParenBoth"/>
            </a:pPr>
            <a:endParaRPr lang="en-US" sz="1800" dirty="0">
              <a:latin typeface="+mj-lt"/>
            </a:endParaRPr>
          </a:p>
          <a:p>
            <a:pPr marL="342900" indent="-342900">
              <a:buAutoNum type="alphaLcParenBoth"/>
            </a:pPr>
            <a:endParaRPr lang="en-US" sz="1800" dirty="0">
              <a:latin typeface="+mj-lt"/>
            </a:endParaRPr>
          </a:p>
          <a:p>
            <a:pPr marL="342900" indent="-342900">
              <a:buAutoNum type="alphaLcParenBoth"/>
            </a:pPr>
            <a:r>
              <a:rPr lang="en-US" sz="1800" dirty="0">
                <a:latin typeface="+mj-lt"/>
              </a:rPr>
              <a:t>Test for whether there is a significant difference in means between the two groups.</a:t>
            </a:r>
          </a:p>
          <a:p>
            <a:pPr marL="342900" indent="-342900">
              <a:buAutoNum type="alphaLcParenBoth"/>
            </a:pPr>
            <a:endParaRPr lang="en-US" sz="1800" dirty="0">
              <a:latin typeface="+mj-lt"/>
            </a:endParaRPr>
          </a:p>
          <a:p>
            <a:pPr marL="342900" indent="-342900">
              <a:buAutoNum type="alphaLcParenBoth"/>
            </a:pPr>
            <a:endParaRPr lang="en-US" sz="1800" dirty="0">
              <a:latin typeface="+mj-lt"/>
            </a:endParaRPr>
          </a:p>
          <a:p>
            <a:pPr marL="342900" indent="-342900">
              <a:buAutoNum type="alphaLcParenBoth"/>
            </a:pPr>
            <a:endParaRPr lang="en-US" sz="1800" dirty="0">
              <a:latin typeface="+mj-lt"/>
            </a:endParaRPr>
          </a:p>
          <a:p>
            <a:pPr marL="342900" indent="-342900">
              <a:buAutoNum type="alphaLcParenBoth"/>
            </a:pPr>
            <a:endParaRPr lang="en-US" sz="1800" dirty="0">
              <a:latin typeface="+mj-lt"/>
            </a:endParaRPr>
          </a:p>
          <a:p>
            <a:pPr marL="342900" indent="-342900">
              <a:buAutoNum type="alphaLcParenBoth"/>
            </a:pPr>
            <a:endParaRPr lang="en-US" sz="1800" dirty="0">
              <a:latin typeface="+mj-lt"/>
            </a:endParaRPr>
          </a:p>
          <a:p>
            <a:pPr marL="342900" indent="-342900">
              <a:buAutoNum type="alphaLcParenBoth"/>
            </a:pPr>
            <a:endParaRPr lang="en-US" sz="1800" dirty="0">
              <a:latin typeface="+mj-lt"/>
            </a:endParaRPr>
          </a:p>
          <a:p>
            <a:pPr marL="342900" indent="-342900">
              <a:buAutoNum type="alphaLcParenBoth"/>
            </a:pPr>
            <a:r>
              <a:rPr lang="en-US" sz="1800" dirty="0">
                <a:latin typeface="+mj-lt"/>
              </a:rPr>
              <a:t>Create a 95% Confidence Interval for the difference in means between the two groups. 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8917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329</Words>
  <Application>Microsoft Macintosh PowerPoint</Application>
  <PresentationFormat>Widescreen</PresentationFormat>
  <Paragraphs>80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1_Office Theme</vt:lpstr>
      <vt:lpstr>Two-Sample Inference (Lectures 8-10)</vt:lpstr>
      <vt:lpstr>Outline</vt:lpstr>
      <vt:lpstr>Two Sample Problems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Pang, Cindy J</dc:creator>
  <cp:lastModifiedBy>Cindy Pang</cp:lastModifiedBy>
  <cp:revision>3</cp:revision>
  <dcterms:created xsi:type="dcterms:W3CDTF">2024-09-11T18:33:18Z</dcterms:created>
  <dcterms:modified xsi:type="dcterms:W3CDTF">2025-10-26T03:46:11Z</dcterms:modified>
</cp:coreProperties>
</file>